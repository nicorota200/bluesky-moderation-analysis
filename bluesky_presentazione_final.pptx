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A_940B8FD1.xml" ContentType="application/vnd.ms-powerpoint.comments+xml"/>
  <Override PartName="/ppt/notesSlides/notesSlide3.xml" ContentType="application/vnd.openxmlformats-officedocument.presentationml.notesSlide+xml"/>
  <Override PartName="/ppt/comments/modernComment_101_0.xml" ContentType="application/vnd.ms-powerpoint.comments+xml"/>
  <Override PartName="/ppt/notesSlides/notesSlide4.xml" ContentType="application/vnd.openxmlformats-officedocument.presentationml.notesSlide+xml"/>
  <Override PartName="/ppt/comments/modernComment_11C_1E1F665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8_8150ED5F.xml" ContentType="application/vnd.ms-powerpoint.comments+xml"/>
  <Override PartName="/ppt/notesSlides/notesSlide7.xml" ContentType="application/vnd.openxmlformats-officedocument.presentationml.notesSlide+xml"/>
  <Override PartName="/ppt/comments/modernComment_119_29CC3A0B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modernComment_125_FD911637.xml" ContentType="application/vnd.ms-powerpoint.comments+xml"/>
  <Override PartName="/ppt/notesSlides/notesSlide13.xml" ContentType="application/vnd.openxmlformats-officedocument.presentationml.notesSlide+xml"/>
  <Override PartName="/ppt/comments/modernComment_10A_0.xml" ContentType="application/vnd.ms-powerpoint.comments+xml"/>
  <Override PartName="/ppt/notesSlides/notesSlide14.xml" ContentType="application/vnd.openxmlformats-officedocument.presentationml.notesSlide+xml"/>
  <Override PartName="/ppt/comments/modernComment_10B_0.xml" ContentType="application/vnd.ms-powerpoint.comments+xml"/>
  <Override PartName="/ppt/notesSlides/notesSlide15.xml" ContentType="application/vnd.openxmlformats-officedocument.presentationml.notesSlide+xml"/>
  <Override PartName="/ppt/comments/modernComment_10C_0.xml" ContentType="application/vnd.ms-powerpoint.comments+xml"/>
  <Override PartName="/ppt/notesSlides/notesSlide16.xml" ContentType="application/vnd.openxmlformats-officedocument.presentationml.notesSlide+xml"/>
  <Override PartName="/ppt/comments/modernComment_10D_0.xml" ContentType="application/vnd.ms-powerpoint.comments+xml"/>
  <Override PartName="/ppt/notesSlides/notesSlide17.xml" ContentType="application/vnd.openxmlformats-officedocument.presentationml.notesSlide+xml"/>
  <Override PartName="/ppt/comments/modernComment_10F_0.xml" ContentType="application/vnd.ms-powerpoint.comments+xml"/>
  <Override PartName="/ppt/notesSlides/notesSlide18.xml" ContentType="application/vnd.openxmlformats-officedocument.presentationml.notesSlide+xml"/>
  <Override PartName="/ppt/comments/modernComment_110_0.xml" ContentType="application/vnd.ms-powerpoint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1B_B5FDBCBE.xml" ContentType="application/vnd.ms-powerpoint.comments+xml"/>
  <Override PartName="/ppt/comments/modernComment_12D_F875C18D.xml" ContentType="application/vnd.ms-powerpoint.comments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2" r:id="rId3"/>
    <p:sldId id="257" r:id="rId4"/>
    <p:sldId id="284" r:id="rId5"/>
    <p:sldId id="288" r:id="rId6"/>
    <p:sldId id="280" r:id="rId7"/>
    <p:sldId id="281" r:id="rId8"/>
    <p:sldId id="291" r:id="rId9"/>
    <p:sldId id="289" r:id="rId10"/>
    <p:sldId id="305" r:id="rId11"/>
    <p:sldId id="290" r:id="rId12"/>
    <p:sldId id="293" r:id="rId13"/>
    <p:sldId id="266" r:id="rId14"/>
    <p:sldId id="267" r:id="rId15"/>
    <p:sldId id="268" r:id="rId16"/>
    <p:sldId id="269" r:id="rId17"/>
    <p:sldId id="294" r:id="rId18"/>
    <p:sldId id="271" r:id="rId19"/>
    <p:sldId id="272" r:id="rId20"/>
    <p:sldId id="295" r:id="rId21"/>
    <p:sldId id="296" r:id="rId22"/>
    <p:sldId id="306" r:id="rId23"/>
    <p:sldId id="298" r:id="rId24"/>
    <p:sldId id="299" r:id="rId25"/>
    <p:sldId id="300" r:id="rId26"/>
    <p:sldId id="283" r:id="rId27"/>
    <p:sldId id="301" r:id="rId28"/>
    <p:sldId id="302" r:id="rId29"/>
    <p:sldId id="303" r:id="rId30"/>
    <p:sldId id="304" r:id="rId31"/>
    <p:sldId id="307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9AF791-834F-6D1A-658E-E8CA486D6C05}" name="Carlo Alberto Bono" initials="CB" userId="S::10021621@polimi.it::93805902-ba01-4dd3-bb69-5cb6459bc74d" providerId="AD"/>
  <p188:author id="{04AF7AB8-5665-DAF5-2BDB-66EEF31DD088}" name="Nicola Rota" initials="NR" userId="S::10906471@polimi.it::0fec50b6-5f48-432e-8dcb-0a5a8cd3d6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E9394-C1B6-660A-1444-D76D682C0182}" v="1" dt="2026-07-12T12:15:58.614"/>
    <p1510:client id="{6FA7D2A2-CDBE-6C60-AE53-AA2562A90134}" v="209" dt="2026-07-12T13:38:29.418"/>
    <p1510:client id="{A5AB4840-21D0-B90C-0C36-FE9B52E2BE6A}" v="14" dt="2026-07-12T14:46:25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modernComment_10A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54BACD-454C-43A2-975C-F2AE9E9CD341}" authorId="{D89AF791-834F-6D1A-658E-E8CA486D6C05}" status="resolved" created="2026-07-04T12:55:27.23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3" creationId="{00000000-0000-0000-0000-000000000000}"/>
      <ac:txMk cp="0" len="11">
        <ac:context len="96" hash="3106439514"/>
      </ac:txMk>
    </ac:txMkLst>
    <p188:pos x="1658055" y="155222"/>
    <p188:txBody>
      <a:bodyPr/>
      <a:lstStyle/>
      <a:p>
        <a:r>
          <a:rPr lang="en-GB"/>
          <a:t>prima di tutti i risultati, sarebbe molto bello avere una slide con un elenco numerato che, per ogni risultato, descrive brevemente qual è l'esperimento che viene svolto (l'obiettivo e il metodo)</a:t>
        </a:r>
      </a:p>
    </p188:txBody>
  </p188:cm>
  <p188:cm id="{41F9AB53-D86C-40BA-8A40-54C455F8F991}" authorId="{D89AF791-834F-6D1A-658E-E8CA486D6C05}" status="resolved" created="2026-07-04T12:56:10.75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25" creationId="{00000000-0000-0000-0000-000000000000}"/>
      <ac:txMk cp="117" len="36">
        <ac:context len="154" hash="3000522797"/>
      </ac:txMk>
    </ac:txMkLst>
    <p188:pos x="952499" y="839611"/>
    <p188:txBody>
      <a:bodyPr/>
      <a:lstStyle/>
      <a:p>
        <a:r>
          <a:rPr lang="en-GB"/>
          <a:t>dire limitatamente a quelli descritti, magari ce ne sono altri osservabili</a:t>
        </a:r>
      </a:p>
    </p188:txBody>
  </p188:cm>
  <p188:cm id="{D1C6E3C3-66D8-4EB0-99FB-1DEDBA6DFE5B}" authorId="{D89AF791-834F-6D1A-658E-E8CA486D6C05}" created="2026-07-04T13:43:33.26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6"/>
      <ac:spMk id="10" creationId="{00000000-0000-0000-0000-000000000000}"/>
    </ac:deMkLst>
    <p188:txBody>
      <a:bodyPr/>
      <a:lstStyle/>
      <a:p>
        <a:r>
          <a:rPr lang="en-GB"/>
          <a:t>da riportare chiaramente il verso del follow</a:t>
        </a:r>
      </a:p>
    </p188:txBody>
  </p188:cm>
</p188:cmLst>
</file>

<file path=ppt/comments/modernComment_10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CDEEC6-47E5-4E7A-B50D-26C90432D017}" authorId="{D89AF791-834F-6D1A-658E-E8CA486D6C05}" created="2026-07-04T12:57:11.024">
    <pc:sldMkLst xmlns:pc="http://schemas.microsoft.com/office/powerpoint/2013/main/command">
      <pc:docMk/>
      <pc:sldMk cId="0" sldId="267"/>
    </pc:sldMkLst>
    <p188:txBody>
      <a:bodyPr/>
      <a:lstStyle/>
      <a:p>
        <a:r>
          <a:rPr lang="en-GB"/>
          <a:t>se in fondo anticipa un altro risultato, metta un rifetimento, es. vedi Risultato x...</a:t>
        </a:r>
      </a:p>
    </p188:txBody>
  </p188:cm>
</p188:cmLst>
</file>

<file path=ppt/comments/modernComment_10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A7FB5C-7BBA-4444-BC8A-3CEA62FCD47D}" authorId="{D89AF791-834F-6D1A-658E-E8CA486D6C05}" status="resolved" created="2026-07-04T12:58:37.184" complete="100000">
    <pc:sldMkLst xmlns:pc="http://schemas.microsoft.com/office/powerpoint/2013/main/command">
      <pc:docMk/>
      <pc:sldMk cId="0" sldId="268"/>
    </pc:sldMkLst>
    <p188:txBody>
      <a:bodyPr/>
      <a:lstStyle/>
      <a:p>
        <a:r>
          <a:rPr lang="en-GB"/>
          <a:t>va spiegata in modo più semplice la slide, se viene fatta una decisione, dire: viene fatta per questo motivo, guardando x, si nota che...</a:t>
        </a:r>
      </a:p>
    </p188:txBody>
  </p188:cm>
</p188:cmLst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97442D-54CB-468F-B4E7-ADF44A7AC3FB}" authorId="{D89AF791-834F-6D1A-658E-E8CA486D6C05}" status="resolved" created="2026-07-04T13:16:41.42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10" creationId="{00000000-0000-0000-0000-000000000000}"/>
      <ac:txMk cp="416">
        <ac:context len="417" hash="3914914066"/>
      </ac:txMk>
    </ac:txMkLst>
    <p188:pos x="5834944" y="437444"/>
    <p188:txBody>
      <a:bodyPr/>
      <a:lstStyle/>
      <a:p>
        <a:r>
          <a:rPr lang="en-GB"/>
          <a:t>aggiungerei un commento sul fato che nei bucket alti questa differenza diminuisce? </a:t>
        </a:r>
      </a:p>
    </p188:txBody>
  </p188:cm>
  <p188:cm id="{F4738FBD-BBFF-4932-92A1-5C4E86CC5ED0}" authorId="{D89AF791-834F-6D1A-658E-E8CA486D6C05}" created="2026-07-04T13:17:54.78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picMk id="9" creationId="{00000000-0000-0000-0000-000000000000}"/>
    </ac:deMkLst>
    <p188:txBody>
      <a:bodyPr/>
      <a:lstStyle/>
      <a:p>
        <a:r>
          <a:rPr lang="en-GB"/>
          <a:t>per il grafico: si potrebbero riportare i bucker in x al posto degli index
si potrebbe sovrapporre una linea che riporta bassa rossa / barra blu (rapporto delle grandezze)</a:t>
        </a:r>
      </a:p>
    </p188:txBody>
  </p188:cm>
  <p188:cm id="{A99BE196-F38C-4222-9A12-0E127DF859B4}" authorId="{D89AF791-834F-6D1A-658E-E8CA486D6C05}" status="resolved" created="2026-07-04T13:20:14.19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69"/>
      <ac:spMk id="3" creationId="{00000000-0000-0000-0000-000000000000}"/>
      <ac:txMk cp="63">
        <ac:context len="66" hash="2391395614"/>
      </ac:txMk>
    </ac:txMkLst>
    <p188:pos x="8544277" y="155222"/>
    <p188:replyLst>
      <p188:reply id="{CD0A584E-FA10-4145-9CDC-0B80BFB9C689}" authorId="{D89AF791-834F-6D1A-658E-E8CA486D6C05}" created="2026-07-04T13:21:26.405">
        <p188:txBody>
          <a:bodyPr/>
          <a:lstStyle/>
          <a:p>
            <a:r>
              <a:rPr lang="en-GB"/>
              <a:t>quindi che so: confronto del numero di blocchi ricevuti nei gruppi takedown/non-takedown, a parità di attività (post)</a:t>
            </a:r>
          </a:p>
        </p188:txBody>
      </p188:reply>
    </p188:replyLst>
    <p188:txBody>
      <a:bodyPr/>
      <a:lstStyle/>
      <a:p>
        <a:r>
          <a:rPr lang="en-GB"/>
          <a:t>nei titoli tenda a dichiarare qual è l'esperimento, la sua natura, il suo scopo, in poche parole... lei mette già le conclusioni, che però dovrebbero andare in fondo alla slide (come già fa) mentre all'inizio dice in sintesi: di cosa parla la slide? (ovvero: che esperimento /analisi ho fatto qui)</a:t>
        </a:r>
      </a:p>
    </p188:txBody>
  </p188:cm>
</p188:cmLst>
</file>

<file path=ppt/comments/modernComment_10F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ECC2FC1-FE2F-453B-B04E-08E50609EAA9}" authorId="{D89AF791-834F-6D1A-658E-E8CA486D6C05}" status="resolved" created="2026-07-04T13:24:03.30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1"/>
      <ac:picMk id="9" creationId="{00000000-0000-0000-0000-000000000000}"/>
    </ac:deMkLst>
    <p188:txBody>
      <a:bodyPr/>
      <a:lstStyle/>
      <a:p>
        <a:r>
          <a:rPr lang="en-GB"/>
          <a:t>va spiegato bene come sono normalizzati i valori: chi non ha mai visto il grafico deve poterlo capire</a:t>
        </a:r>
      </a:p>
    </p188:txBody>
  </p188:cm>
</p188:cmLst>
</file>

<file path=ppt/comments/modernComment_11A_940B8F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99A9C8-0373-4F88-AD55-30E2C4B45D66}" authorId="{D89AF791-834F-6D1A-658E-E8CA486D6C05}" created="2026-07-04T12:22:33.6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83785681" sldId="282"/>
      <ac:spMk id="5" creationId="{00000000-0000-0000-0000-000000000000}"/>
      <ac:txMk cp="972">
        <ac:context len="973" hash="41878266"/>
      </ac:txMk>
    </ac:txMkLst>
    <p188:pos x="4332111" y="3633611"/>
    <p188:replyLst>
      <p188:reply id="{623DEBC4-6D5A-4632-8874-B8684B9B404F}" authorId="{04AF7AB8-5665-DAF5-2BDB-66EEF31DD088}" created="2026-07-04T17:36:59.760">
        <p188:txBody>
          <a:bodyPr/>
          <a:lstStyle/>
          <a:p>
            <a:r>
              <a:rPr lang="it-IT"/>
              <a:t>in questa slide pensavo di presentare un attimo bluesky e perchè a noi viene comodo</a:t>
            </a:r>
          </a:p>
        </p188:txBody>
      </p188:reply>
    </p188:replyLst>
    <p188:txBody>
      <a:bodyPr/>
      <a:lstStyle/>
      <a:p>
        <a:r>
          <a:rPr lang="en-GB"/>
          <a:t>scrivere per esteso: il progetto studia...</a:t>
        </a:r>
      </a:p>
    </p188:txBody>
  </p188:cm>
  <p188:cm id="{7E645C14-2278-4A11-AF4C-E799AF85CDCF}" authorId="{D89AF791-834F-6D1A-658E-E8CA486D6C05}" status="resolved" created="2026-07-04T12:23:08.92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483785681" sldId="282"/>
      <ac:spMk id="5" creationId="{00000000-0000-0000-0000-000000000000}"/>
      <ac:txMk cp="972">
        <ac:context len="973" hash="41878266"/>
      </ac:txMk>
    </ac:txMkLst>
    <p188:pos x="4007555" y="1749777"/>
    <p188:txBody>
      <a:bodyPr/>
      <a:lstStyle/>
      <a:p>
        <a:r>
          <a:rPr lang="en-GB"/>
          <a:t>elenco dei segnali disponibili, link a documentazione, etc</a:t>
        </a:r>
      </a:p>
    </p188:txBody>
  </p188:cm>
  <p188:cm id="{785FAF33-C6E8-4AA5-AF93-9A4026767A56}" authorId="{04AF7AB8-5665-DAF5-2BDB-66EEF31DD088}" created="2026-07-04T18:38:10.315">
    <pc:sldMkLst xmlns:pc="http://schemas.microsoft.com/office/powerpoint/2013/main/command">
      <pc:docMk/>
      <pc:sldMk cId="2483785681" sldId="282"/>
    </pc:sldMkLst>
    <p188:txBody>
      <a:bodyPr/>
      <a:lstStyle/>
      <a:p>
        <a:r>
          <a:rPr lang="it-IT"/>
          <a:t>TODO: in generale tutti i link li metterò nel footer, indicandoli nel testo con un numerino [1]</a:t>
        </a:r>
      </a:p>
    </p188:txBody>
  </p188:cm>
</p188:cmLst>
</file>

<file path=ppt/comments/modernComment_11B_B5FDBC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0BA38E7-41A0-4BC5-B295-3A320F8FF6ED}" authorId="{D89AF791-834F-6D1A-658E-E8CA486D6C05}" status="resolved" created="2026-07-04T13:35:26.539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53305022" sldId="283"/>
      <ac:spMk id="4" creationId="{DEB4A005-F93D-921A-2676-AD080039FE50}"/>
      <ac:txMk cp="0" len="5">
        <ac:context len="77" hash="3382914813"/>
      </ac:txMk>
    </ac:txMkLst>
    <p188:pos x="190499" y="204611"/>
    <p188:txBody>
      <a:bodyPr/>
      <a:lstStyle/>
      <a:p>
        <a:r>
          <a:rPr lang="en-GB"/>
          <a:t>dia le definizioni dei concetti che usa (lift, coverage, deck...) altrimenti non si può interpretare</a:t>
        </a:r>
      </a:p>
    </p188:txBody>
  </p188:cm>
</p188:cmLst>
</file>

<file path=ppt/comments/modernComment_11C_1E1F665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798D85-5ADE-4058-AD6A-59AF07D3801C}" authorId="{D89AF791-834F-6D1A-658E-E8CA486D6C05}" status="resolved" created="2026-07-04T12:31:21.46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05374288" sldId="284"/>
      <ac:spMk id="4" creationId="{00000000-0000-0000-0000-000000000000}"/>
      <ac:txMk cp="0" len="19">
        <ac:context len="69" hash="2017803781"/>
      </ac:txMk>
    </ac:txMkLst>
    <p188:pos x="1523999" y="162277"/>
    <p188:txBody>
      <a:bodyPr/>
      <a:lstStyle/>
      <a:p>
        <a:r>
          <a:rPr lang="en-GB"/>
          <a:t>sottolineare che sono attività di moderazione in qualche modo, ci sono tante altre attività osservabili</a:t>
        </a:r>
      </a:p>
    </p188:txBody>
  </p188:cm>
  <p188:cm id="{E09B1720-58B6-4742-AF89-35C4B5B1846C}" authorId="{D89AF791-834F-6D1A-658E-E8CA486D6C05}" status="resolved" created="2026-07-04T12:35:05.27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505374288" sldId="284"/>
      <ac:spMk id="11" creationId="{00000000-0000-0000-0000-000000000000}"/>
      <ac:txMk cp="431">
        <ac:context len="432" hash="34064875"/>
      </ac:txMk>
    </ac:txMkLst>
    <p188:pos x="2970388" y="839611"/>
    <p188:txBody>
      <a:bodyPr/>
      <a:lstStyle/>
      <a:p>
        <a:r>
          <a:rPr lang="en-GB"/>
          <a:t>magari spiegare un p' meglio come funzionano + riferimento all'ultimo lavoro di Balduf sulle blocklist</a:t>
        </a:r>
      </a:p>
    </p188:txBody>
  </p188:cm>
</p188:cmLst>
</file>

<file path=ppt/comments/modernComment_12D_F875C1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A94FEC-FAA0-4394-98B5-9A2CD2CA0482}" authorId="{04AF7AB8-5665-DAF5-2BDB-66EEF31DD088}" created="2026-07-08T12:34:27.813">
    <pc:sldMkLst xmlns:pc="http://schemas.microsoft.com/office/powerpoint/2013/main/command">
      <pc:docMk/>
      <pc:sldMk cId="4168466829" sldId="301"/>
    </pc:sldMkLst>
    <p188:txBody>
      <a:bodyPr/>
      <a:lstStyle/>
      <a:p>
        <a:r>
          <a:rPr lang="it-IT"/>
          <a:t>sistemare:
magari riporto anche la domanda di ricerca</a:t>
        </a:r>
      </a:p>
    </p188:txBody>
  </p188:cm>
  <p188:cm id="{60D8B1B0-40D1-4359-9001-6586A482EA35}" authorId="{04AF7AB8-5665-DAF5-2BDB-66EEF31DD088}" created="2026-07-08T12:34:45.409">
    <pc:sldMkLst xmlns:pc="http://schemas.microsoft.com/office/powerpoint/2013/main/command">
      <pc:docMk/>
      <pc:sldMk cId="4168466829" sldId="301"/>
    </pc:sldMkLst>
    <p188:txBody>
      <a:bodyPr/>
      <a:lstStyle/>
      <a:p>
        <a:r>
          <a:rPr lang="it-IT"/>
          <a:t>In generale le conclusioni devo rivederle 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175D7E-BA75-4CF0-9D05-D063344EB38C}" authorId="{D89AF791-834F-6D1A-658E-E8CA486D6C05}" status="resolved" created="2026-07-04T12:23:39.988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4" creationId="{00000000-0000-0000-0000-000000000000}"/>
      <ac:txMk cp="0" len="83">
        <ac:context len="84" hash="1649561473"/>
      </ac:txMk>
    </ac:txMkLst>
    <p188:pos x="5044722" y="204611"/>
    <p188:replyLst>
      <p188:reply id="{09B030FC-D64E-4AE1-8C1D-406A187769B9}" authorId="{D89AF791-834F-6D1A-658E-E8CA486D6C05}" created="2026-07-04T12:28:46.059">
        <p188:txBody>
          <a:bodyPr/>
          <a:lstStyle/>
          <a:p>
            <a:r>
              <a:rPr lang="en-GB"/>
              <a:t>in generale</a:t>
            </a:r>
          </a:p>
        </p188:txBody>
      </p188:reply>
    </p188:replyLst>
    <p188:txBody>
      <a:bodyPr/>
      <a:lstStyle/>
      <a:p>
        <a:r>
          <a:rPr lang="en-GB"/>
          <a:t>non metterei sottotitoli alle slide</a:t>
        </a:r>
      </a:p>
    </p188:txBody>
  </p188:cm>
  <p188:cm id="{E229E04A-437E-4649-9F9A-B43D51AF8316}" authorId="{D89AF791-834F-6D1A-658E-E8CA486D6C05}" created="2026-07-04T12:25:16.85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8" creationId="{00000000-0000-0000-0000-000000000000}"/>
      <ac:txMk cp="74">
        <ac:context len="446" hash="3335060167"/>
      </ac:txMk>
    </ac:txMkLst>
    <p188:pos x="3118555" y="952499"/>
    <p188:txBody>
      <a:bodyPr/>
      <a:lstStyle/>
      <a:p>
        <a:r>
          <a:rPr lang="en-GB"/>
          <a:t>questa dovrebbe coincidere con la domanda di ricerca nella prima slide, ed essere presentata come domanda di ricerca, forse dopo il blocco sotto "il progetto..."</a:t>
        </a:r>
      </a:p>
    </p188:txBody>
  </p188:cm>
  <p188:cm id="{2E8F0E05-68DA-4E54-89D1-453D42A16D8F}" authorId="{D89AF791-834F-6D1A-658E-E8CA486D6C05}" status="resolved" created="2026-07-04T12:25:43.638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12" creationId="{00000000-0000-0000-0000-000000000000}"/>
    </ac:deMkLst>
    <p188:txBody>
      <a:bodyPr/>
      <a:lstStyle/>
      <a:p>
        <a:r>
          <a:rPr lang="en-GB"/>
          <a:t>questi meglio spiegarli come avviene dopo, piuttosto che lasciare un box qui?</a:t>
        </a:r>
      </a:p>
    </p188:txBody>
  </p188:cm>
  <p188:cm id="{0D01A0E7-AD26-49DB-96AB-FB2D5FB77A03}" authorId="{D89AF791-834F-6D1A-658E-E8CA486D6C05}" status="resolved" created="2026-07-04T12:27:23.037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13" creationId="{00000000-0000-0000-0000-000000000000}"/>
      <ac:txMk cp="0" len="132">
        <ac:context len="133" hash="4133021050"/>
      </ac:txMk>
    </ac:txMkLst>
    <p188:pos x="5990166" y="388055"/>
    <p188:txBody>
      <a:bodyPr/>
      <a:lstStyle/>
      <a:p>
        <a:r>
          <a:rPr lang="en-GB"/>
          <a:t>cercherei di usare un unico blocco di testo con lo stesso font, per ordine, più elementi grafici se servono
ogni slide un messaggio: in questo la slide è coerente, ma ha tanti elementi:
sottotitolo, domanda in corsivo, blocco di testo, questa chiusa sotto, i box a destra...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8E5135-6D98-4B61-B708-22C4FD2EB71E}" authorId="{D89AF791-834F-6D1A-658E-E8CA486D6C05}" status="resolved" created="2026-07-04T13:25:16.448" complete="100000">
    <pc:sldMkLst xmlns:pc="http://schemas.microsoft.com/office/powerpoint/2013/main/command">
      <pc:docMk/>
      <pc:sldMk cId="0" sldId="272"/>
    </pc:sldMkLst>
    <p188:txBody>
      <a:bodyPr/>
      <a:lstStyle/>
      <a:p>
        <a:r>
          <a:rPr lang="en-GB"/>
          <a:t>va benissimo, mettere due parole per dire: ok l'osservaziojne della slide precedente, tuttavia bisogna notare che...</a:t>
        </a:r>
      </a:p>
    </p188:txBody>
  </p188:cm>
</p188:cmLst>
</file>

<file path=ppt/comments/modernComment_118_8150ED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82DB58-8093-4363-9C65-1213FFEC3F2A}" authorId="{D89AF791-834F-6D1A-658E-E8CA486D6C05}" status="resolved" created="2026-07-04T12:41:45.93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69564511" sldId="280"/>
      <ac:spMk id="3" creationId="{00000000-0000-0000-0000-000000000000}"/>
    </ac:deMkLst>
    <p188:txBody>
      <a:bodyPr/>
      <a:lstStyle/>
      <a:p>
        <a:r>
          <a:rPr lang="en-GB"/>
          <a:t>magari da qualche parte qualche informazione generale su qual è il periodo, quanti sono gli utenti, etc... descrizione generale dei dati.
va bene anche citarli dopo, ma per dare un'idea quando vengono introdotti</a:t>
        </a:r>
      </a:p>
    </p188:txBody>
  </p188:cm>
</p188:cmLst>
</file>

<file path=ppt/comments/modernComment_119_29CC3A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FD5FAA5-81BF-4E91-B69C-A240CF4F6A12}" authorId="{D89AF791-834F-6D1A-658E-E8CA486D6C05}" status="resolved" created="2026-07-04T12:44:23.39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01250059" sldId="281"/>
      <ac:spMk id="22" creationId="{00000000-0000-0000-0000-000000000000}"/>
      <ac:txMk cp="506">
        <ac:context len="507" hash="4029937690"/>
      </ac:txMk>
    </ac:txMkLst>
    <p188:pos x="4127499" y="373944"/>
    <p188:txBody>
      <a:bodyPr/>
      <a:lstStyle/>
      <a:p>
        <a:r>
          <a:rPr lang="en-GB"/>
          <a:t>viene controllato che restino negativi per almeno tot tempo dopo lo pseudo evento? se sì dirlo</a:t>
        </a:r>
      </a:p>
    </p188:txBody>
  </p188:cm>
  <p188:cm id="{207BBBBA-40A3-4F70-BAED-0325BFCA4B58}" authorId="{D89AF791-834F-6D1A-658E-E8CA486D6C05}" status="resolved" created="2026-07-04T12:45:15.756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701250059" sldId="281"/>
      <ac:spMk id="8" creationId="{00000000-0000-0000-0000-000000000000}"/>
      <ac:txMk cp="0" len="35">
        <ac:context len="36" hash="2082015415"/>
      </ac:txMk>
    </ac:txMkLst>
    <p188:pos x="3788833" y="162277"/>
    <p188:txBody>
      <a:bodyPr/>
      <a:lstStyle/>
      <a:p>
        <a:r>
          <a:rPr lang="en-GB"/>
          <a:t>ancche qui per sintesi: il titolo a sinistra, rimettere un altro titolo nel box appesantisce la lettura</a:t>
        </a:r>
      </a:p>
    </p188:txBody>
  </p188:cm>
</p188:cmLst>
</file>

<file path=ppt/comments/modernComment_125_FD9116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9A738F-D266-425F-93AD-B51CA1F9264B}" authorId="{04AF7AB8-5665-DAF5-2BDB-66EEF31DD088}" created="2026-07-08T12:35:26.192">
    <pc:sldMkLst xmlns:pc="http://schemas.microsoft.com/office/powerpoint/2013/main/command">
      <pc:docMk/>
      <pc:sldMk cId="4254144055" sldId="293"/>
    </pc:sldMkLst>
    <p188:txBody>
      <a:bodyPr/>
      <a:lstStyle/>
      <a:p>
        <a:r>
          <a:rPr lang="it-IT"/>
          <a:t>da allineare con i risultati nella altre slide (punti 6-7-8)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934B5-CBA3-45F3-8A47-218445CDD449}" type="datetimeFigureOut">
              <a:t>12/07/2026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32489-B578-4857-8571-0CD01654F0B2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88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Bluesky pubblica report di trasparenza (2023, 2025). La moderazione account-level è orientata a spam, impersonation e reti coordinate — non al singolo post problematico.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1500-BC34-3E69-108E-71607D0E6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B5A7F-F771-4B0F-C368-F750373FA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177239-1EC3-5C2E-C8AE-C12D90CA71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AFD9B-387B-AC65-BC09-271F7826C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846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59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940B8FD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bsky.app/docs/advanced-guides/moderation" TargetMode="External"/><Relationship Id="rId5" Type="http://schemas.openxmlformats.org/officeDocument/2006/relationships/hyperlink" Target="https://docs.bsky.app/blog/blueskys-moderation-architecture" TargetMode="External"/><Relationship Id="rId4" Type="http://schemas.openxmlformats.org/officeDocument/2006/relationships/hyperlink" Target="https://docs.bsky.app/docs/advanced-guides/atprot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bsky.app/blog/blueskys-moderation-architecture" TargetMode="External"/><Relationship Id="rId3" Type="http://schemas.microsoft.com/office/2018/10/relationships/comments" Target="../comments/modernComment_11C_1E1F6650.xml"/><Relationship Id="rId7" Type="http://schemas.openxmlformats.org/officeDocument/2006/relationships/hyperlink" Target="https://docs.bsky.app/docs/advanced-guides/modera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bsky.app/docs/api/app-bsky-graph-get-lists" TargetMode="External"/><Relationship Id="rId5" Type="http://schemas.openxmlformats.org/officeDocument/2006/relationships/hyperlink" Target="https://docs.bsky.app/docs/tutorials/user-lists" TargetMode="External"/><Relationship Id="rId4" Type="http://schemas.openxmlformats.org/officeDocument/2006/relationships/hyperlink" Target="https://docs.bsky.app/blog/block-implementation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3646547.3688407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openaccess.city.ac.uk/id/eprint/36822/1/bluesky3_0-7.pdf" TargetMode="External"/><Relationship Id="rId4" Type="http://schemas.openxmlformats.org/officeDocument/2006/relationships/hyperlink" Target="https://arxiv.org/abs/2505.01174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8150ED5F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sky.leobalduf.com/dataset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29CC3A0B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5_FD91163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0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D_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B5FDBCBE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D_F875C18D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10.1145/3646547.3688407" TargetMode="External"/><Relationship Id="rId3" Type="http://schemas.openxmlformats.org/officeDocument/2006/relationships/hyperlink" Target="https://docs.bsky.app/docs/advanced-guides/atproto" TargetMode="External"/><Relationship Id="rId7" Type="http://schemas.openxmlformats.org/officeDocument/2006/relationships/hyperlink" Target="https://bsky.social/about/blog/01-29-2026-transparency-report-2025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bsky.app/blog/block-implementation" TargetMode="External"/><Relationship Id="rId5" Type="http://schemas.openxmlformats.org/officeDocument/2006/relationships/hyperlink" Target="https://docs.bsky.app/docs/advanced-guides/moderation" TargetMode="External"/><Relationship Id="rId10" Type="http://schemas.openxmlformats.org/officeDocument/2006/relationships/hyperlink" Target="https://dl.acm.org/doi/10.1145/3774904.3792106" TargetMode="External"/><Relationship Id="rId4" Type="http://schemas.openxmlformats.org/officeDocument/2006/relationships/hyperlink" Target="https://docs.bsky.app/blog/blueskys-moderation-architecture" TargetMode="External"/><Relationship Id="rId9" Type="http://schemas.openxmlformats.org/officeDocument/2006/relationships/hyperlink" Target="https://arxiv.org/abs/2505.0117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7772400" cy="20574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Segnali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comunitari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e</a:t>
            </a:r>
            <a:endParaRPr lang="en-US" sz="4200">
              <a:latin typeface="Aptos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moderazione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ufficiale</a:t>
            </a:r>
            <a:endParaRPr lang="en-US" sz="4200" err="1">
              <a:latin typeface="Aptos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su</a:t>
            </a:r>
            <a:r>
              <a:rPr lang="en-US" sz="420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Bluesky</a:t>
            </a:r>
            <a:endParaRPr lang="en-US" sz="4200" b="1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3200400"/>
            <a:ext cx="7498080" cy="3657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5F6F82"/>
                </a:solidFill>
                <a:latin typeface="Aptos"/>
              </a:defRPr>
            </a:pPr>
            <a:r>
              <a:rPr lang="en-US" sz="1800">
                <a:solidFill>
                  <a:srgbClr val="1F2937"/>
                </a:solidFill>
                <a:latin typeface="Aptos"/>
              </a:rPr>
              <a:t>Analisi predittiva e correlazionale · Marzo 2026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705975" y="5958986"/>
            <a:ext cx="6225177" cy="36866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>
              <a:spcAft>
                <a:spcPts val="0"/>
              </a:spcAft>
              <a:defRPr>
                <a:solidFill>
                  <a:srgbClr val="5F6F82"/>
                </a:solidFill>
                <a:latin typeface="Aptos"/>
              </a:defRPr>
            </a:pPr>
            <a:r>
              <a:rPr lang="en-US" sz="1400">
                <a:solidFill>
                  <a:srgbClr val="1F2937"/>
                </a:solidFill>
                <a:latin typeface="Aptos"/>
              </a:rPr>
              <a:t>Nicola Rota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8641080" y="1188720"/>
            <a:ext cx="26060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br>
              <a:rPr lang="en-US" sz="1700" b="1" u="sng"/>
            </a:br>
            <a:endParaRPr lang="en-US" sz="1700" b="1"/>
          </a:p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700" b="1">
                <a:solidFill>
                  <a:srgbClr val="1F2937"/>
                </a:solidFill>
                <a:latin typeface="Aptos"/>
              </a:rPr>
              <a:t>I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comunitari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pubblici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possono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anticipare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la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moderazione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700" b="1" err="1">
                <a:solidFill>
                  <a:srgbClr val="1F2937"/>
                </a:solidFill>
                <a:latin typeface="Aptos"/>
              </a:rPr>
              <a:t>ufficiale</a:t>
            </a:r>
            <a:r>
              <a:rPr lang="en-US" sz="1700" b="1">
                <a:solidFill>
                  <a:srgbClr val="1F2937"/>
                </a:solidFill>
                <a:latin typeface="Aptos"/>
              </a:rPr>
              <a:t>?</a:t>
            </a:r>
            <a:endParaRPr lang="en-US" sz="170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487680" y="268224"/>
            <a:ext cx="7315200" cy="39014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800" b="1" i="0">
                <a:solidFill>
                  <a:srgbClr val="0C649B"/>
                </a:solidFill>
                <a:latin typeface="Aptos"/>
              </a:defRPr>
            </a:pPr>
            <a:r>
              <a:rPr lang="en-US" sz="2200" b="1" i="0" kern="0" spc="267">
                <a:solidFill>
                  <a:srgbClr val="2563EB"/>
                </a:solidFill>
                <a:latin typeface="Aptos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09600" y="670560"/>
            <a:ext cx="10972800" cy="9144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>
                <a:solidFill>
                  <a:srgbClr val="11233D"/>
                </a:solidFill>
                <a:latin typeface="Aptos"/>
                <a:ea typeface="Cambria"/>
                <a:cs typeface="Cambria" pitchFamily="34" charset="-120"/>
              </a:rPr>
              <a:t>Bluesky, il social network</a:t>
            </a:r>
            <a:endParaRPr lang="en-US" sz="4000" b="1">
              <a:ea typeface="Cambr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1609344"/>
            <a:ext cx="10972800" cy="48768"/>
          </a:xfrm>
          <a:prstGeom prst="rect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10395131" cy="4511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0"/>
              </a:spcAft>
            </a:pPr>
            <a:endParaRPr lang="it-IT" sz="1600" b="1"/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Bluesky è un social network simile a Twitter, ma progettato per essere più aperto e meno dipendente da una singola piattaforma centrale.</a:t>
            </a:r>
          </a:p>
          <a:p>
            <a:pPr>
              <a:spcAft>
                <a:spcPts val="0"/>
              </a:spcAft>
            </a:pPr>
            <a:endParaRPr lang="it-IT" sz="1600"/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È costruito su </a:t>
            </a:r>
            <a:r>
              <a:rPr lang="it-IT" sz="1600" b="1" err="1">
                <a:solidFill>
                  <a:srgbClr val="1F2937"/>
                </a:solidFill>
                <a:latin typeface="Aptos"/>
              </a:rPr>
              <a:t>ATProto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, il protocollo tecnico che organizza il funzionamento della piattaforma: account, post, follows, blocchi, liste e labels sono gestiti secondo regole comuni e possono essere letti attraverso API pubbliche.</a:t>
            </a:r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Per questo progetto, l’aspetto centrale è l’osservabilità: su Bluesky molte informazioni pubbliche — come blocchi, follows, liste e labels — possono essere raccolte e analizzate. Questo permette di studiare i segnali prodotti dagli utenti o da servizi indipendenti e confrontarli con le decisioni ufficiali di moderazione, come il !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takedown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.</a:t>
            </a:r>
          </a:p>
          <a:p>
            <a:pPr>
              <a:spcAft>
                <a:spcPts val="0"/>
              </a:spcAft>
            </a:pPr>
            <a:endParaRPr lang="it-IT" sz="1600"/>
          </a:p>
          <a:p>
            <a:pPr>
              <a:spcAft>
                <a:spcPts val="0"/>
              </a:spcAft>
            </a:pPr>
            <a:r>
              <a:rPr lang="it-IT" sz="1600">
                <a:solidFill>
                  <a:srgbClr val="1F2937"/>
                </a:solidFill>
                <a:latin typeface="Aptos"/>
              </a:rPr>
              <a:t>Fonti ufficiali:</a:t>
            </a:r>
            <a:br>
              <a:rPr lang="it-IT" sz="1600"/>
            </a:br>
            <a:r>
              <a:rPr lang="it-IT" sz="1600">
                <a:solidFill>
                  <a:srgbClr val="1F2937"/>
                </a:solidFill>
                <a:latin typeface="Aptos"/>
              </a:rPr>
              <a:t>AT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Protocol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docs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— </a:t>
            </a:r>
            <a:r>
              <a:rPr lang="it-IT" sz="1600">
                <a:solidFill>
                  <a:srgbClr val="1F2937"/>
                </a:solidFill>
                <a:latin typeface="Aptos"/>
                <a:hlinkClick r:id="rId4"/>
              </a:rPr>
              <a:t>↗</a:t>
            </a:r>
            <a:br>
              <a:rPr lang="it-IT" sz="1600"/>
            </a:br>
            <a:r>
              <a:rPr lang="it-IT" sz="1600">
                <a:solidFill>
                  <a:srgbClr val="1F2937"/>
                </a:solidFill>
                <a:latin typeface="Aptos"/>
              </a:rPr>
              <a:t>Bluesky’s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Moderation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Architecture — </a:t>
            </a:r>
            <a:r>
              <a:rPr lang="it-IT" sz="1600">
                <a:solidFill>
                  <a:srgbClr val="1F2937"/>
                </a:solidFill>
                <a:latin typeface="Aptos"/>
                <a:hlinkClick r:id="rId5"/>
              </a:rPr>
              <a:t>↗</a:t>
            </a:r>
            <a:br>
              <a:rPr lang="it-IT" sz="1600"/>
            </a:br>
            <a:r>
              <a:rPr lang="it-IT" sz="1600">
                <a:solidFill>
                  <a:srgbClr val="1F2937"/>
                </a:solidFill>
                <a:latin typeface="Aptos"/>
              </a:rPr>
              <a:t>Labels and </a:t>
            </a:r>
            <a:r>
              <a:rPr lang="it-IT" sz="1600" err="1">
                <a:solidFill>
                  <a:srgbClr val="1F2937"/>
                </a:solidFill>
                <a:latin typeface="Aptos"/>
              </a:rPr>
              <a:t>moderation</a:t>
            </a:r>
            <a:r>
              <a:rPr lang="it-IT" sz="1600">
                <a:solidFill>
                  <a:srgbClr val="1F2937"/>
                </a:solidFill>
                <a:latin typeface="Aptos"/>
              </a:rPr>
              <a:t> — </a:t>
            </a:r>
            <a:r>
              <a:rPr lang="it-IT" sz="1600">
                <a:solidFill>
                  <a:srgbClr val="1F2937"/>
                </a:solidFill>
                <a:latin typeface="Aptos"/>
                <a:hlinkClick r:id="rId6"/>
              </a:rPr>
              <a:t>↗</a:t>
            </a:r>
            <a:endParaRPr lang="en-US" sz="1600" b="1">
              <a:solidFill>
                <a:srgbClr val="09192A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9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837856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Che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cosa</a:t>
            </a: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studia il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progetto</a:t>
            </a: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–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domanda</a:t>
            </a:r>
            <a:r>
              <a:rPr lang="en-US" sz="2750" b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750" b="1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ricerca</a:t>
            </a:r>
            <a:endParaRPr lang="en-US" sz="2750" err="1"/>
          </a:p>
        </p:txBody>
      </p:sp>
      <p:sp>
        <p:nvSpPr>
          <p:cNvPr id="5" name="Shape 3"/>
          <p:cNvSpPr/>
          <p:nvPr/>
        </p:nvSpPr>
        <p:spPr>
          <a:xfrm>
            <a:off x="595957" y="919335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1400" b="0" i="0">
                <a:solidFill>
                  <a:srgbClr val="1F2937"/>
                </a:solidFill>
                <a:latin typeface="Aptos"/>
              </a:rPr>
              <a:t>02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9653451" cy="370912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600" b="1">
                <a:solidFill>
                  <a:srgbClr val="1F2937"/>
                </a:solidFill>
                <a:latin typeface="Aptos"/>
              </a:rPr>
              <a:t>I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comunitari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pubblici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possono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anticipare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la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moderazione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600" b="1" err="1">
                <a:solidFill>
                  <a:srgbClr val="1F2937"/>
                </a:solidFill>
                <a:latin typeface="Aptos"/>
              </a:rPr>
              <a:t>ufficiale</a:t>
            </a:r>
            <a:r>
              <a:rPr lang="en-US" sz="1600" b="1">
                <a:solidFill>
                  <a:srgbClr val="1F2937"/>
                </a:solidFill>
                <a:latin typeface="Aptos"/>
              </a:rPr>
              <a:t>?</a:t>
            </a:r>
            <a:endParaRPr lang="it-IT" sz="24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2400" i="1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L’obiettivo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capire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se, prima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una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decisione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della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piattaforma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emergano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già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pubblici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prodotti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dalla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comunità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tracce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attenzione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classificazioni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esterne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o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forme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distribuite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Questi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poi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confrontati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con il " takedown" di un account da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parte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della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 per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valutarne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potere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informativo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58368" y="438912"/>
            <a:ext cx="1088136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900" b="1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Segnali comunitari pubblici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713232" y="1572768"/>
            <a:ext cx="10744200" cy="6583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 lnSpcReduction="2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700">
              <a:ea typeface="+mn-lt"/>
              <a:cs typeface="+mn-lt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molti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Bluesky, il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progetto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concentra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quelli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rilevanti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la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comunitaria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 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tracce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pubblicamente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prodotte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dagli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utenti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o da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servizi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moderazione</a:t>
            </a:r>
            <a:r>
              <a:rPr lang="en-US" sz="17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non </a:t>
            </a:r>
            <a:r>
              <a:rPr lang="en-US" sz="17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ufficiali</a:t>
            </a:r>
            <a:endParaRPr lang="en-US" err="1"/>
          </a:p>
        </p:txBody>
      </p:sp>
      <p:sp>
        <p:nvSpPr>
          <p:cNvPr id="6" name="Shape 4"/>
          <p:cNvSpPr/>
          <p:nvPr/>
        </p:nvSpPr>
        <p:spPr>
          <a:xfrm>
            <a:off x="4233672" y="2487168"/>
            <a:ext cx="0" cy="2587752"/>
          </a:xfrm>
          <a:prstGeom prst="line">
            <a:avLst/>
          </a:prstGeom>
          <a:solidFill>
            <a:srgbClr val="1995D1"/>
          </a:solidFill>
          <a:ln w="1397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936992" y="2487168"/>
            <a:ext cx="0" cy="2587752"/>
          </a:xfrm>
          <a:prstGeom prst="line">
            <a:avLst/>
          </a:prstGeom>
          <a:solidFill>
            <a:srgbClr val="1995D1"/>
          </a:solidFill>
          <a:ln w="1397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301752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Blocchi individuali</a:t>
            </a:r>
            <a:endParaRPr lang="en-US" sz="1850"/>
          </a:p>
        </p:txBody>
      </p:sp>
      <p:sp>
        <p:nvSpPr>
          <p:cNvPr id="9" name="Text 7"/>
          <p:cNvSpPr/>
          <p:nvPr/>
        </p:nvSpPr>
        <p:spPr>
          <a:xfrm>
            <a:off x="698718" y="2970204"/>
            <a:ext cx="3352074" cy="332739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azioni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dirette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utenti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un account decide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bloccarne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altro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impedendogli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interagire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normalmente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con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lui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e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nascondendolo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dall’esperienza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dell’utente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blocca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  <a:hlinkClick r:id="rId4"/>
              </a:rPr>
              <a:t>Block implementation ↗</a:t>
            </a:r>
            <a:endParaRPr lang="en-US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4416552" y="2542032"/>
            <a:ext cx="315468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Modlist / blocklist</a:t>
            </a:r>
            <a:endParaRPr lang="en-US" sz="1850"/>
          </a:p>
        </p:txBody>
      </p:sp>
      <p:sp>
        <p:nvSpPr>
          <p:cNvPr id="11" name="Text 9"/>
          <p:cNvSpPr/>
          <p:nvPr/>
        </p:nvSpPr>
        <p:spPr>
          <a:xfrm>
            <a:off x="4416552" y="2977461"/>
            <a:ext cx="3337560" cy="331288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lnSpcReduction="1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</a:rPr>
              <a:t>Sono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liste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account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usate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per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applicare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un’azione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moderazione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collettiva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, come mute o block, non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su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un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singolo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profilo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ma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su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un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insieme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account. In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pratica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, un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utente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o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una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comunità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può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costruire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una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lista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di account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problematici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, e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altri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utenti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possono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adottarla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per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bloccare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o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silenziare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tutti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gli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 account </a:t>
            </a:r>
            <a:r>
              <a:rPr lang="en-US" sz="1500" err="1">
                <a:solidFill>
                  <a:srgbClr val="1F2937"/>
                </a:solidFill>
                <a:latin typeface="Aptos"/>
              </a:rPr>
              <a:t>inclusi</a:t>
            </a:r>
            <a:r>
              <a:rPr lang="en-US" sz="1500">
                <a:solidFill>
                  <a:srgbClr val="1F2937"/>
                </a:solidFill>
                <a:latin typeface="Aptos"/>
              </a:rPr>
              <a:t>.</a:t>
            </a: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>
              <a:ea typeface="+mn-lt"/>
              <a:cs typeface="+mn-lt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  <a:hlinkClick r:id="rId5"/>
              </a:rPr>
              <a:t>User lists ↗</a:t>
            </a:r>
            <a:endParaRPr lang="en-US">
              <a:hlinkClick r:id="" action="ppaction://noaction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>
              <a:ea typeface="+mn-lt"/>
              <a:cs typeface="+mn-lt"/>
            </a:endParaRPr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>
                <a:solidFill>
                  <a:srgbClr val="1F2937"/>
                </a:solidFill>
                <a:latin typeface="Aptos"/>
                <a:ea typeface="+mn-lt"/>
                <a:cs typeface="+mn-lt"/>
                <a:hlinkClick r:id="rId6"/>
              </a:rPr>
              <a:t>Graph API ↗</a:t>
            </a:r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19872" y="2542032"/>
            <a:ext cx="297180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Labeler terzi</a:t>
            </a:r>
            <a:endParaRPr lang="en-US" sz="1850"/>
          </a:p>
        </p:txBody>
      </p:sp>
      <p:sp>
        <p:nvSpPr>
          <p:cNvPr id="13" name="Text 11"/>
          <p:cNvSpPr/>
          <p:nvPr/>
        </p:nvSpPr>
        <p:spPr>
          <a:xfrm>
            <a:off x="8119872" y="2991975"/>
            <a:ext cx="3373845" cy="329822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 lnSpcReduction="2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it-IT" sz="880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 servizi di moderazione indipendenti dal </a:t>
            </a:r>
            <a:r>
              <a:rPr lang="it-IT" sz="88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labeler</a:t>
            </a:r>
            <a:r>
              <a:rPr lang="it-IT" sz="88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ufficiale di Bluesky. Producono labels, cioè etichette applicate ad account, contenuti o altri oggetti del protocollo, secondo criteri propri. L’utente può scegliere di usare questi servizi come livello aggiuntivo di moderazione.</a:t>
            </a: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it-IT" sz="880">
                <a:solidFill>
                  <a:srgbClr val="1F2937"/>
                </a:solidFill>
                <a:latin typeface="Aptos"/>
                <a:hlinkClick r:id="rId7"/>
              </a:rPr>
              <a:t>Moderation docs ↗</a:t>
            </a:r>
            <a:br>
              <a:rPr lang="it-IT"/>
            </a:b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it-IT" sz="880">
                <a:solidFill>
                  <a:srgbClr val="1F2937"/>
                </a:solidFill>
                <a:latin typeface="Aptos"/>
                <a:hlinkClick r:id="rId8"/>
              </a:rPr>
              <a:t>Architecture ↗</a:t>
            </a:r>
            <a:endParaRPr lang="en-US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053742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594360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Stato dell’arte</a:t>
            </a:r>
            <a:endParaRPr lang="en-US" sz="3000"/>
          </a:p>
        </p:txBody>
      </p:sp>
      <p:sp>
        <p:nvSpPr>
          <p:cNvPr id="5" name="Text 3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5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Lavori vicini su Bluesky: architettura, blocking individuale e blocklist comunitarie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640080" y="1243584"/>
            <a:ext cx="21945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Lavoro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2926080" y="1243584"/>
            <a:ext cx="40233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Che cosa tratta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498080" y="1243584"/>
            <a:ext cx="38404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Collegamento con questo progetto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66928" y="1536192"/>
            <a:ext cx="11018520" cy="0"/>
          </a:xfrm>
          <a:prstGeom prst="line">
            <a:avLst/>
          </a:prstGeom>
          <a:noFill/>
          <a:ln w="1270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66928" y="2679192"/>
            <a:ext cx="11018520" cy="0"/>
          </a:xfrm>
          <a:prstGeom prst="line">
            <a:avLst/>
          </a:prstGeom>
          <a:noFill/>
          <a:ln w="1143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" y="1719072"/>
            <a:ext cx="2011680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Balduf et al.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</a:t>
            </a:r>
            <a:endParaRPr lang="en-US" sz="1220"/>
          </a:p>
        </p:txBody>
      </p:sp>
      <p:sp>
        <p:nvSpPr>
          <p:cNvPr id="12" name="Text 10"/>
          <p:cNvSpPr/>
          <p:nvPr/>
        </p:nvSpPr>
        <p:spPr>
          <a:xfrm>
            <a:off x="2926080" y="1709928"/>
            <a:ext cx="4160520" cy="7955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/>
          </a:bodyPr>
          <a:lstStyle/>
          <a:p>
            <a:pPr>
              <a:spcAft>
                <a:spcPts val="0"/>
              </a:spcAft>
            </a:pPr>
            <a:r>
              <a:rPr lang="en-US" sz="12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Looking at the Blue Skies of Bluesky
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Prima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misura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ampia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della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piattaforma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crescita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degli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architettura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ATProto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gestibili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provider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terzi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</a:t>
            </a:r>
            <a:endParaRPr lang="en-US" sz="1210">
              <a:solidFill>
                <a:srgbClr val="000000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pPr>
              <a:spcAft>
                <a:spcPts val="0"/>
              </a:spcAft>
            </a:pPr>
            <a:r>
              <a:rPr lang="en-US" sz="1200">
                <a:solidFill>
                  <a:srgbClr val="1F2937"/>
                </a:solidFill>
                <a:latin typeface="Aptos"/>
                <a:ea typeface="+mn-lt"/>
                <a:cs typeface="+mn-lt"/>
                <a:hlinkClick r:id="rId3"/>
              </a:rPr>
              <a:t>ACM DOI ↗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498080" y="1737360"/>
            <a:ext cx="3886200" cy="75895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metodologica e infrastrutturale: definisce il contesto empirico e le strutture dati usate nei lavori successivi.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566928" y="3813048"/>
            <a:ext cx="11018520" cy="0"/>
          </a:xfrm>
          <a:prstGeom prst="line">
            <a:avLst/>
          </a:prstGeom>
          <a:noFill/>
          <a:ln w="1143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2852928"/>
            <a:ext cx="2011680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Bono et al.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</a:t>
            </a:r>
            <a:endParaRPr lang="en-US" sz="1220"/>
          </a:p>
        </p:txBody>
      </p:sp>
      <p:sp>
        <p:nvSpPr>
          <p:cNvPr id="16" name="Text 14"/>
          <p:cNvSpPr/>
          <p:nvPr/>
        </p:nvSpPr>
        <p:spPr>
          <a:xfrm>
            <a:off x="2926080" y="2843784"/>
            <a:ext cx="4160520" cy="7955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2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Self-moderation in the decentralized era
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Studia il blocking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individuale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Bluesky: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con feature di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contenuto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modelli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stimare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chi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viene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bloccato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</a:t>
            </a:r>
            <a:r>
              <a:rPr lang="en-US" sz="1200">
                <a:solidFill>
                  <a:srgbClr val="1F2937"/>
                </a:solidFill>
                <a:latin typeface="Aptos"/>
                <a:ea typeface="+mn-lt"/>
                <a:cs typeface="+mn-lt"/>
                <a:hlinkClick r:id="rId4"/>
              </a:rPr>
              <a:t>arXiv ↗</a:t>
            </a:r>
            <a:endParaRPr lang="en-US" sz="1210"/>
          </a:p>
        </p:txBody>
      </p:sp>
      <p:sp>
        <p:nvSpPr>
          <p:cNvPr id="17" name="Text 15"/>
          <p:cNvSpPr/>
          <p:nvPr/>
        </p:nvSpPr>
        <p:spPr>
          <a:xfrm>
            <a:off x="7498080" y="2871216"/>
            <a:ext cx="3886200" cy="75895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Vicino al nostro uso dei blocchi, ma l’evento di interesse resta “essere bloccati”, non il takedown ufficiale.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39499" y="5571018"/>
            <a:ext cx="11018520" cy="0"/>
          </a:xfrm>
          <a:prstGeom prst="line">
            <a:avLst/>
          </a:prstGeom>
          <a:noFill/>
          <a:ln w="11430">
            <a:solidFill>
              <a:srgbClr val="D6E4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5566" y="4219013"/>
            <a:ext cx="2011680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Sokoto et al.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/ London</a:t>
            </a:r>
            <a:endParaRPr lang="en-US" sz="1220"/>
          </a:p>
          <a:p>
            <a:pPr marL="0" indent="0">
              <a:spcAft>
                <a:spcPts val="0"/>
              </a:spcAft>
              <a:buNone/>
            </a:pPr>
            <a:r>
              <a:rPr lang="en-US" sz="12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1220"/>
          </a:p>
        </p:txBody>
      </p:sp>
      <p:sp>
        <p:nvSpPr>
          <p:cNvPr id="20" name="Text 18"/>
          <p:cNvSpPr/>
          <p:nvPr/>
        </p:nvSpPr>
        <p:spPr>
          <a:xfrm>
            <a:off x="2875281" y="4217126"/>
            <a:ext cx="4196805" cy="11801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Open or Blocked Skies?
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Analizza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soprattutto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blocklist: scala,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categorie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colpiti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criteri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lista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conseguenze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sul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grafo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sociale</a:t>
            </a:r>
            <a:r>
              <a:rPr lang="en-US" sz="12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n-US" sz="1200">
                <a:solidFill>
                  <a:srgbClr val="1F2937"/>
                </a:solidFill>
                <a:latin typeface="Aptos"/>
                <a:ea typeface="+mn-lt"/>
                <a:cs typeface="+mn-lt"/>
                <a:hlinkClick r:id="rId5"/>
              </a:rPr>
              <a:t>City Open Access ↗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83566" y="4237301"/>
            <a:ext cx="3886200" cy="75895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0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Riferimento principale per le blocklist; mostra che sono centrali nella moderazione comunitaria, ma eterogenee e concentrate.</a:t>
            </a:r>
            <a:endParaRPr lang="en-US" sz="120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517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30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Dati </a:t>
            </a:r>
            <a:r>
              <a:rPr lang="en-US" sz="30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disponibili</a:t>
            </a:r>
            <a:endParaRPr lang="en-US" sz="3000" b="1" err="1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69848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 cosa contenevano i dati grezzi e in quale forma sono stati resi utilizzabili.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86384" y="1499616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 · Origine dei dati</a:t>
            </a:r>
            <a:endParaRPr lang="en-US" sz="1280"/>
          </a:p>
        </p:txBody>
      </p:sp>
      <p:sp>
        <p:nvSpPr>
          <p:cNvPr id="7" name="Shape 5"/>
          <p:cNvSpPr/>
          <p:nvPr/>
        </p:nvSpPr>
        <p:spPr>
          <a:xfrm>
            <a:off x="2788920" y="1242279"/>
            <a:ext cx="8797833" cy="163953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044952" y="1911096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37695" y="1430094"/>
            <a:ext cx="8220456" cy="12615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File .parquet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concessi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dagli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autori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  "Looking at the Blue Skies of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Bluesky"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  <a:hlinkClick r:id="rId4"/>
              </a:rPr>
              <a:t>Dataset Balduf ↗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partire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stream API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ATProto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arricchiti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con stream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log del labeler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Bluesky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Il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materiale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partenza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è un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insieme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file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separati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descrivono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interazioni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moderazione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3854" y="3228702"/>
            <a:ext cx="1927497" cy="470844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5584" y="3260199"/>
            <a:ext cx="1664208" cy="349503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>
              <a:spcAft>
                <a:spcPts val="0"/>
              </a:spcAft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2 · Che </a:t>
            </a:r>
            <a:r>
              <a:rPr lang="en-US" sz="12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cosa</a:t>
            </a:r>
            <a:r>
              <a:rPr lang="en-US" sz="1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entra</a:t>
            </a:r>
            <a:r>
              <a:rPr lang="en-US" sz="1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20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nell’analisi</a:t>
            </a:r>
            <a:endParaRPr lang="en-US" sz="1200" err="1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81663" y="3075432"/>
            <a:ext cx="8710749" cy="14508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30438" y="3678936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030438" y="3255990"/>
            <a:ext cx="8220456" cy="10511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con ID e data di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creazione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misurare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pubblica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come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comunitario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diretto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liste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modlist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come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comunitario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aggregato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labels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 labeler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di labeler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terzi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!takedown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come proxy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dell’enforcement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account-level.</a:t>
            </a:r>
            <a:endParaRPr lang="en-US" sz="1400"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4825" y="4894943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2841" y="4977239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 · Variabili derivate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2759891" y="4785215"/>
            <a:ext cx="8725263" cy="1568123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001409" y="5388719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008666" y="4900459"/>
            <a:ext cx="8220456" cy="126999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Sui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dati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grezzi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state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costruite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variabili</a:t>
            </a:r>
            <a:r>
              <a:rPr lang="en-US" sz="14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derivate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conteggi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pre-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evento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numero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post, follow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totali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unique blockers,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giornalieri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presenza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in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modlist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labels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osservate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età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dell’account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classificazione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in 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gruppi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seconda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dell'esposizione</a:t>
            </a:r>
            <a:r>
              <a:rPr lang="en-US" sz="1400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un account. </a:t>
            </a:r>
            <a:endParaRPr lang="en-US" sz="1400" dirty="0"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695645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384048"/>
            <a:ext cx="109728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30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Strumenti software e metodo operativo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58368" y="896112"/>
            <a:ext cx="1069848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sono stati trattati i dati e quale unità analitica è stata costruita.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00898" y="1499616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5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4 · </a:t>
            </a:r>
            <a:r>
              <a:rPr lang="en-US" sz="1250" b="1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Anoni</a:t>
            </a:r>
            <a:r>
              <a:rPr lang="en-US" sz="1250" err="1">
                <a:solidFill>
                  <a:srgbClr val="1F2937"/>
                </a:solidFill>
                <a:latin typeface="Aptos"/>
              </a:rPr>
              <a:t>mizzazione</a:t>
            </a:r>
            <a:endParaRPr lang="en-US" sz="1280" err="1"/>
          </a:p>
        </p:txBody>
      </p:sp>
      <p:sp>
        <p:nvSpPr>
          <p:cNvPr id="7" name="Shape 5"/>
          <p:cNvSpPr/>
          <p:nvPr/>
        </p:nvSpPr>
        <p:spPr>
          <a:xfrm>
            <a:off x="2781663" y="1264050"/>
            <a:ext cx="8732520" cy="173518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044952" y="1911096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037695" y="1502665"/>
            <a:ext cx="8220456" cy="1328201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dati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non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anonimizzati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rimasti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macchina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virtuale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perché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contengono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identificativi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reali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metadati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sensibili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Per il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lavoro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locale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esportati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solo dataset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derivati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anonimizzati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DID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reali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vengono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sostituiti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DID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anonimi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tramite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hashing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deterministico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file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locali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conservano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variabili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aggregate e non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contenuti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testuali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o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identità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leggibili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400">
              <a:latin typeface="Apto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58368" y="3173549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86384" y="3255845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5 · Software</a:t>
            </a:r>
            <a:endParaRPr lang="en-US" sz="1280"/>
          </a:p>
        </p:txBody>
      </p:sp>
      <p:sp>
        <p:nvSpPr>
          <p:cNvPr id="13" name="Shape 11"/>
          <p:cNvSpPr/>
          <p:nvPr/>
        </p:nvSpPr>
        <p:spPr>
          <a:xfrm>
            <a:off x="2774406" y="3063821"/>
            <a:ext cx="8732520" cy="16871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044952" y="3667325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030438" y="3179065"/>
            <a:ext cx="8220456" cy="1410787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Python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script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riproducibili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leggere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filtrare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grandi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file .parquet e .csv.gz senza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caricarli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integralmente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in </a:t>
            </a:r>
            <a:r>
              <a:rPr lang="en-US" sz="1400">
                <a:solidFill>
                  <a:srgbClr val="1F2937"/>
                </a:solidFill>
                <a:latin typeface="Aptos"/>
              </a:rPr>
              <a:t>memoria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pandas/</a:t>
            </a:r>
            <a:r>
              <a:rPr lang="en-US" sz="140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numpy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trasformazioni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controlli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Jupyter Notebook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analisi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descrittive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grafici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</a:t>
            </a:r>
            <a:r>
              <a:rPr lang="en-US" sz="14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scikit-learn</a:t>
            </a:r>
            <a:r>
              <a:rPr lang="en-US" sz="14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Random Forest.</a:t>
            </a:r>
            <a:endParaRPr lang="en-US"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9339" y="4954597"/>
            <a:ext cx="1920240" cy="347472"/>
          </a:xfrm>
          <a:prstGeom prst="rect">
            <a:avLst/>
          </a:prstGeom>
          <a:solidFill>
            <a:srgbClr val="EFF7FC"/>
          </a:solidFill>
          <a:ln w="8255">
            <a:solidFill>
              <a:srgbClr val="1995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0098" y="5058664"/>
            <a:ext cx="1664208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6 · Unità di analisi</a:t>
            </a:r>
            <a:endParaRPr lang="en-US" sz="1280"/>
          </a:p>
        </p:txBody>
      </p:sp>
      <p:sp>
        <p:nvSpPr>
          <p:cNvPr id="19" name="Shape 17"/>
          <p:cNvSpPr/>
          <p:nvPr/>
        </p:nvSpPr>
        <p:spPr>
          <a:xfrm>
            <a:off x="2767148" y="4801327"/>
            <a:ext cx="8732520" cy="1838959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015923" y="5448373"/>
            <a:ext cx="8220456" cy="0"/>
          </a:xfrm>
          <a:prstGeom prst="line">
            <a:avLst/>
          </a:prstGeom>
          <a:solidFill>
            <a:srgbClr val="C9E0EE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022978" y="4949832"/>
            <a:ext cx="8220456" cy="15164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L’analisi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stata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portata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livello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account-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con un </a:t>
            </a:r>
            <a:r>
              <a:rPr lang="en-US" sz="1400">
                <a:solidFill>
                  <a:srgbClr val="1F2937"/>
                </a:solidFill>
                <a:latin typeface="Aptos"/>
              </a:rPr>
              <a:t>!takedown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;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senza takedown, a cui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viene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assegnato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uno pseudo-</a:t>
            </a:r>
            <a:r>
              <a:rPr lang="en-US" sz="1400" err="1">
                <a:solidFill>
                  <a:srgbClr val="1F2937"/>
                </a:solidFill>
                <a:latin typeface="Aptos"/>
              </a:rPr>
              <a:t>event_time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nello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stesso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periodo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Per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verifica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inoltre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10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successivi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allo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pseudo-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non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ricevano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takedown. Tutte le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variabili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sono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calcolate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prima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dell’evento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o pseudo-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evento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così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chiedere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se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pubblici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fossero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già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prima della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decisione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ufficiale</a:t>
            </a:r>
            <a:r>
              <a:rPr lang="en-US" sz="14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/>
          </a:p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00">
              <a:solidFill>
                <a:srgbClr val="09192A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012500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07278" y="310025"/>
            <a:ext cx="6217920" cy="40233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Dataset analizzati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625566" y="794657"/>
            <a:ext cx="996696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Numeri </a:t>
            </a:r>
            <a:r>
              <a:rPr lang="en-US" sz="1350" b="1" err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principali</a:t>
            </a: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 della base </a:t>
            </a:r>
            <a:r>
              <a:rPr lang="en-US" sz="1350" b="1" err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empirica</a:t>
            </a: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b="1" err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usata</a:t>
            </a:r>
            <a:r>
              <a:rPr lang="en-US" sz="1350" b="1">
                <a:solidFill>
                  <a:srgbClr val="11233D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350">
              <a:latin typeface="Apto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7278" y="1228489"/>
            <a:ext cx="10939998" cy="514067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25400" dist="50800" dir="2700000" algn="bl" rotWithShape="0">
              <a:srgbClr val="C8D1DF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9260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GREZZI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474720" cy="24688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8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Dati di partenza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914400" y="2596896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1.222.452</a:t>
            </a:r>
            <a:endParaRPr lang="en-US" sz="1850"/>
          </a:p>
        </p:txBody>
      </p:sp>
      <p:sp>
        <p:nvSpPr>
          <p:cNvPr id="10" name="Text 8"/>
          <p:cNvSpPr/>
          <p:nvPr/>
        </p:nvSpPr>
        <p:spPr>
          <a:xfrm>
            <a:off x="2743200" y="2642616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distinti nei profili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14400" y="3127248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4.189</a:t>
            </a:r>
            <a:endParaRPr lang="en-US" sz="1850"/>
          </a:p>
        </p:txBody>
      </p:sp>
      <p:sp>
        <p:nvSpPr>
          <p:cNvPr id="12" name="Text 10"/>
          <p:cNvSpPr/>
          <p:nvPr/>
        </p:nvSpPr>
        <p:spPr>
          <a:xfrm>
            <a:off x="2743200" y="3172968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log labeler ufficiale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36.946.883</a:t>
            </a:r>
            <a:endParaRPr lang="en-US" sz="185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righe post 11–21 marzo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914400" y="4187952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159.161</a:t>
            </a:r>
            <a:endParaRPr lang="en-US" sz="1850"/>
          </a:p>
        </p:txBody>
      </p:sp>
      <p:sp>
        <p:nvSpPr>
          <p:cNvPr id="16" name="Text 14"/>
          <p:cNvSpPr/>
          <p:nvPr/>
        </p:nvSpPr>
        <p:spPr>
          <a:xfrm>
            <a:off x="2743200" y="4233672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eventi !takedown in marzo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914400" y="4718304"/>
            <a:ext cx="1691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8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158.803</a:t>
            </a:r>
            <a:endParaRPr lang="en-US" sz="1850"/>
          </a:p>
        </p:txBody>
      </p:sp>
      <p:sp>
        <p:nvSpPr>
          <p:cNvPr id="18" name="Text 16"/>
          <p:cNvSpPr/>
          <p:nvPr/>
        </p:nvSpPr>
        <p:spPr>
          <a:xfrm>
            <a:off x="2743200" y="4764024"/>
            <a:ext cx="2011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positivi unici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5047488" y="1847088"/>
            <a:ext cx="0" cy="3977640"/>
          </a:xfrm>
          <a:prstGeom prst="line">
            <a:avLst/>
          </a:prstGeom>
          <a:noFill/>
          <a:ln w="12700">
            <a:solidFill>
              <a:srgbClr val="E0E7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413248" y="1874520"/>
            <a:ext cx="365760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OPERATIVO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5413248" y="2084832"/>
            <a:ext cx="3749040" cy="24688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8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Base account-evento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5413248" y="2587752"/>
            <a:ext cx="2468880" cy="950976"/>
          </a:xfrm>
          <a:prstGeom prst="roundRect">
            <a:avLst>
              <a:gd name="adj" fmla="val 7692"/>
            </a:avLst>
          </a:prstGeom>
          <a:solidFill>
            <a:srgbClr val="EEF4FB"/>
          </a:solidFill>
          <a:ln w="11430">
            <a:solidFill>
              <a:srgbClr val="D8E5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96128" y="2761488"/>
            <a:ext cx="20574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4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47.821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5614416" y="3090672"/>
            <a:ext cx="199339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positivi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5614416" y="3310128"/>
            <a:ext cx="2011680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88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con !takedown nel periodo 11–21 marzo</a:t>
            </a:r>
            <a:endParaRPr lang="en-US" sz="870"/>
          </a:p>
        </p:txBody>
      </p:sp>
      <p:sp>
        <p:nvSpPr>
          <p:cNvPr id="26" name="Shape 24"/>
          <p:cNvSpPr/>
          <p:nvPr/>
        </p:nvSpPr>
        <p:spPr>
          <a:xfrm>
            <a:off x="8202168" y="2587752"/>
            <a:ext cx="2468880" cy="950976"/>
          </a:xfrm>
          <a:prstGeom prst="roundRect">
            <a:avLst>
              <a:gd name="adj" fmla="val 7692"/>
            </a:avLst>
          </a:prstGeom>
          <a:solidFill>
            <a:srgbClr val="F8FAFD"/>
          </a:solidFill>
          <a:ln w="11430">
            <a:solidFill>
              <a:srgbClr val="D8E5F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385048" y="2761488"/>
            <a:ext cx="20574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240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366.515</a:t>
            </a:r>
            <a:endParaRPr lang="en-US" sz="2400"/>
          </a:p>
        </p:txBody>
      </p:sp>
      <p:sp>
        <p:nvSpPr>
          <p:cNvPr id="28" name="Text 26"/>
          <p:cNvSpPr/>
          <p:nvPr/>
        </p:nvSpPr>
        <p:spPr>
          <a:xfrm>
            <a:off x="8403336" y="3090672"/>
            <a:ext cx="199339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negativi</a:t>
            </a:r>
            <a:endParaRPr lang="en-US" sz="1150"/>
          </a:p>
        </p:txBody>
      </p:sp>
      <p:sp>
        <p:nvSpPr>
          <p:cNvPr id="29" name="Text 27"/>
          <p:cNvSpPr/>
          <p:nvPr/>
        </p:nvSpPr>
        <p:spPr>
          <a:xfrm>
            <a:off x="8403336" y="3310128"/>
            <a:ext cx="2011680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88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osservabili senza takedown a marzo</a:t>
            </a:r>
            <a:endParaRPr lang="en-US" sz="870"/>
          </a:p>
        </p:txBody>
      </p:sp>
      <p:sp>
        <p:nvSpPr>
          <p:cNvPr id="30" name="Text 28"/>
          <p:cNvSpPr/>
          <p:nvPr/>
        </p:nvSpPr>
        <p:spPr>
          <a:xfrm>
            <a:off x="5413248" y="3840480"/>
            <a:ext cx="228600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5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Struttura finale</a:t>
            </a:r>
            <a:endParaRPr lang="en-US" sz="1550"/>
          </a:p>
        </p:txBody>
      </p:sp>
      <p:sp>
        <p:nvSpPr>
          <p:cNvPr id="31" name="Shape 29"/>
          <p:cNvSpPr/>
          <p:nvPr/>
        </p:nvSpPr>
        <p:spPr>
          <a:xfrm>
            <a:off x="5413248" y="4169664"/>
            <a:ext cx="5440680" cy="265176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522976" y="4224528"/>
            <a:ext cx="150876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Unità</a:t>
            </a:r>
            <a:endParaRPr lang="en-US" sz="950"/>
          </a:p>
        </p:txBody>
      </p:sp>
      <p:sp>
        <p:nvSpPr>
          <p:cNvPr id="33" name="Text 31"/>
          <p:cNvSpPr/>
          <p:nvPr/>
        </p:nvSpPr>
        <p:spPr>
          <a:xfrm>
            <a:off x="7196328" y="4224528"/>
            <a:ext cx="352044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account-evento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5522976" y="4489704"/>
            <a:ext cx="150876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Finestra segnali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7196328" y="4489704"/>
            <a:ext cx="352044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giorni pre-evento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5413248" y="4700016"/>
            <a:ext cx="5440680" cy="265176"/>
          </a:xfrm>
          <a:prstGeom prst="rect">
            <a:avLst/>
          </a:prstGeom>
          <a:solidFill>
            <a:srgbClr val="FAFCFE"/>
          </a:solidFill>
          <a:ln w="12700">
            <a:solidFill>
              <a:srgbClr val="FAFCFE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522976" y="4754880"/>
            <a:ext cx="150876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Osservazioni negative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7196328" y="4754880"/>
            <a:ext cx="3520440" cy="12801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4.031.665 account-giorno</a:t>
            </a:r>
            <a:endParaRPr lang="en-US" sz="95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779D8742-042D-AED9-B954-747CB13F6F05}"/>
              </a:ext>
            </a:extLst>
          </p:cNvPr>
          <p:cNvSpPr txBox="1"/>
          <p:nvPr/>
        </p:nvSpPr>
        <p:spPr>
          <a:xfrm>
            <a:off x="5416201" y="5072324"/>
            <a:ext cx="5740400" cy="430887"/>
          </a:xfrm>
          <a:prstGeom prst="rect">
            <a:avLst/>
          </a:prstGeom>
          <a:noFill/>
          <a:ln w="9525"/>
        </p:spPr>
        <p:txBody>
          <a:bodyPr rot="0" spcFirstLastPara="0" vertOverflow="overflow" horzOverflow="overflow" vert="horz" wrap="square" lIns="36576" tIns="27432" rIns="36576" bIns="2743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it-IT" sz="110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 366.515 account negativi vengono osservati per ciascuno degli 11 giorni della finestra operativa, dal 11 al 21 marzo, ottenendo 366.515 × 11 = 4.031.665 osservazioni negative</a:t>
            </a:r>
            <a:endParaRPr lang="it-IT" sz="1100"/>
          </a:p>
        </p:txBody>
      </p:sp>
      <p:sp>
        <p:nvSpPr>
          <p:cNvPr id="49" name="Rectangle 48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1100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574185" y="297978"/>
            <a:ext cx="10997474" cy="64530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123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dati e costruzione del dataset account-evento</a:t>
            </a:r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66928" y="1024128"/>
            <a:ext cx="11018520" cy="0"/>
          </a:xfrm>
          <a:prstGeom prst="line">
            <a:avLst/>
          </a:prstGeom>
          <a:noFill/>
          <a:ln w="1143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605604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909892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214180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9518468" y="2051304"/>
            <a:ext cx="18288" cy="0"/>
          </a:xfrm>
          <a:prstGeom prst="line">
            <a:avLst/>
          </a:prstGeom>
          <a:noFill/>
          <a:ln w="22860">
            <a:solidFill>
              <a:srgbClr val="B8CB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392756" y="1420368"/>
            <a:ext cx="2190786" cy="2560899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531512" y="1548384"/>
            <a:ext cx="292899" cy="307413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02484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895676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fontScale="92500" lnSpcReduction="10000"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Ispezione e selezione dati</a:t>
            </a:r>
            <a:endParaRPr lang="en-US" sz="1330"/>
          </a:p>
        </p:txBody>
      </p:sp>
      <p:sp>
        <p:nvSpPr>
          <p:cNvPr id="32" name="Text 30"/>
          <p:cNvSpPr/>
          <p:nvPr/>
        </p:nvSpPr>
        <p:spPr>
          <a:xfrm>
            <a:off x="562718" y="1906887"/>
            <a:ext cx="1879890" cy="2040997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Apro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parquet e csv.gz con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DuckDB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/Python: schema,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colonne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head,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chiavi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DID, timestamp e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copertura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temporale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Individuo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quali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file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usabili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profili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post, logs del labeler,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liste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1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1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100">
              <a:latin typeface="Apto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660759" y="1420368"/>
            <a:ext cx="2227071" cy="2553642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821286" y="1541127"/>
            <a:ext cx="300156" cy="307413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806772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3199964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30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Selezione Positivi</a:t>
            </a:r>
            <a:endParaRPr lang="en-US" sz="1300" b="1">
              <a:solidFill>
                <a:srgbClr val="132A45"/>
              </a:solidFill>
              <a:latin typeface="Apto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830721" y="1899630"/>
            <a:ext cx="1908918" cy="201922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Estraggo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con label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account-level `!takedown` non-neg. Per ogni account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primo takedown come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event_time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T; 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avere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osservabili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tengo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11–21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marzo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50">
              <a:latin typeface="Apto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965047" y="1420368"/>
            <a:ext cx="2227071" cy="2539128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5096546" y="1548384"/>
            <a:ext cx="372726" cy="314670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111060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5504252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300" b="1">
                <a:solidFill>
                  <a:srgbClr val="1F2937"/>
                </a:solidFill>
                <a:latin typeface="Aptos"/>
              </a:rPr>
              <a:t>Selezione Negativi</a:t>
            </a:r>
            <a:endParaRPr lang="en-US" sz="1300" b="1">
              <a:solidFill>
                <a:srgbClr val="132A45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5135009" y="1914144"/>
            <a:ext cx="1901661" cy="199019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Parto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osservabili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marzo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creati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prima del mese e senza takedown. A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ciascuno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assegno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uno pseudo-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event_time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stessi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positivi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così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confronto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non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dipende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calendario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</a:pPr>
            <a:r>
              <a:rPr lang="en-US" sz="950" b="1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Gli</a:t>
            </a:r>
            <a:r>
              <a:rPr lang="en-US" sz="950" b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</a:t>
            </a:r>
            <a:r>
              <a:rPr lang="en-US" sz="950" b="1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osservati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ciascuno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degli </a:t>
            </a:r>
            <a:r>
              <a:rPr lang="en-US" sz="950" b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11 </a:t>
            </a:r>
            <a:r>
              <a:rPr lang="en-US" sz="950" b="1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della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finestra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operativa</a:t>
            </a:r>
            <a:r>
              <a:rPr lang="en-US" sz="9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</a:pPr>
            <a:endParaRPr lang="en-US" sz="950" b="1">
              <a:solidFill>
                <a:srgbClr val="1D2733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269335" y="1420368"/>
            <a:ext cx="2227071" cy="2531871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7408091" y="1548384"/>
            <a:ext cx="365469" cy="321927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415348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/>
          </a:p>
        </p:txBody>
      </p:sp>
      <p:sp>
        <p:nvSpPr>
          <p:cNvPr id="46" name="Text 44"/>
          <p:cNvSpPr/>
          <p:nvPr/>
        </p:nvSpPr>
        <p:spPr>
          <a:xfrm>
            <a:off x="7808540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Finestra pre-evento</a:t>
            </a:r>
            <a:endParaRPr lang="en-US" sz="1330"/>
          </a:p>
        </p:txBody>
      </p:sp>
      <p:sp>
        <p:nvSpPr>
          <p:cNvPr id="47" name="Text 45"/>
          <p:cNvSpPr/>
          <p:nvPr/>
        </p:nvSpPr>
        <p:spPr>
          <a:xfrm>
            <a:off x="7424783" y="1914144"/>
            <a:ext cx="1923432" cy="196116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Autofit/>
          </a:bodyPr>
          <a:lstStyle/>
          <a:p>
            <a:pPr>
              <a:spcAft>
                <a:spcPts val="0"/>
              </a:spcAft>
            </a:pP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positivi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negativi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guardo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solo [T−10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T). In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questa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finestra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calcolo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visibilità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comunitari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; per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negativi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verifico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anche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che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dopo T non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venga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assegnato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takedwon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50">
              <a:latin typeface="Apto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573623" y="1420368"/>
            <a:ext cx="2212557" cy="2524614"/>
          </a:xfrm>
          <a:prstGeom prst="roundRect">
            <a:avLst>
              <a:gd name="adj" fmla="val 6522"/>
            </a:avLst>
          </a:prstGeom>
          <a:solidFill>
            <a:srgbClr val="EAF3FA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9690608" y="1548384"/>
            <a:ext cx="365469" cy="343699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719636" y="1580388"/>
            <a:ext cx="329184" cy="18984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/>
          </a:p>
        </p:txBody>
      </p:sp>
      <p:sp>
        <p:nvSpPr>
          <p:cNvPr id="51" name="Text 49"/>
          <p:cNvSpPr/>
          <p:nvPr/>
        </p:nvSpPr>
        <p:spPr>
          <a:xfrm>
            <a:off x="10112828" y="1539240"/>
            <a:ext cx="1554480" cy="3358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derivate</a:t>
            </a:r>
            <a:endParaRPr lang="en-US" sz="1330"/>
          </a:p>
        </p:txBody>
      </p:sp>
      <p:sp>
        <p:nvSpPr>
          <p:cNvPr id="52" name="Text 50"/>
          <p:cNvSpPr/>
          <p:nvPr/>
        </p:nvSpPr>
        <p:spPr>
          <a:xfrm>
            <a:off x="9743585" y="1914144"/>
            <a:ext cx="1916175" cy="19684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Costruisco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conteggi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account-level: post 10d, follow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totali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unique blockers,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-per-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giorno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presenza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in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modlist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labels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ufficiali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di </a:t>
            </a:r>
            <a:r>
              <a:rPr lang="en-US" sz="9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terzi</a:t>
            </a:r>
            <a:r>
              <a:rPr lang="en-US" sz="9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50">
              <a:latin typeface="Apto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95956" y="4187952"/>
            <a:ext cx="5358384" cy="1389888"/>
          </a:xfrm>
          <a:prstGeom prst="roundRect">
            <a:avLst>
              <a:gd name="adj" fmla="val 5921"/>
            </a:avLst>
          </a:prstGeom>
          <a:solidFill>
            <a:srgbClr val="F2F7FB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778836" y="4361688"/>
            <a:ext cx="329184" cy="329184"/>
          </a:xfrm>
          <a:prstGeom prst="ellipse">
            <a:avLst/>
          </a:prstGeom>
          <a:solidFill>
            <a:srgbClr val="1F5A89"/>
          </a:solidFill>
          <a:ln w="12700">
            <a:solidFill>
              <a:srgbClr val="1F5A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778836" y="4393692"/>
            <a:ext cx="329184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/>
          </a:p>
        </p:txBody>
      </p:sp>
      <p:sp>
        <p:nvSpPr>
          <p:cNvPr id="57" name="Text 55"/>
          <p:cNvSpPr/>
          <p:nvPr/>
        </p:nvSpPr>
        <p:spPr>
          <a:xfrm>
            <a:off x="1172028" y="4352544"/>
            <a:ext cx="310896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Controllo per esposizione</a:t>
            </a:r>
            <a:endParaRPr lang="en-US" sz="1330"/>
          </a:p>
        </p:txBody>
      </p:sp>
      <p:sp>
        <p:nvSpPr>
          <p:cNvPr id="58" name="Text 56"/>
          <p:cNvSpPr/>
          <p:nvPr/>
        </p:nvSpPr>
        <p:spPr>
          <a:xfrm>
            <a:off x="797124" y="4736592"/>
            <a:ext cx="48006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Divido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in bucket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lineari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post × follow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.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Questo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separa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utenti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a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seconda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della loro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sulla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piattaforma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000">
              <a:solidFill>
                <a:srgbClr val="1D2733"/>
              </a:solidFill>
              <a:latin typeface="Apto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246948" y="4187952"/>
            <a:ext cx="5367528" cy="1389888"/>
          </a:xfrm>
          <a:prstGeom prst="roundRect">
            <a:avLst>
              <a:gd name="adj" fmla="val 5921"/>
            </a:avLst>
          </a:prstGeom>
          <a:solidFill>
            <a:srgbClr val="F2F7FB"/>
          </a:solidFill>
          <a:ln w="13970">
            <a:solidFill>
              <a:srgbClr val="B8CBD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429828" y="4361688"/>
            <a:ext cx="329184" cy="329184"/>
          </a:xfrm>
          <a:prstGeom prst="ellipse">
            <a:avLst/>
          </a:prstGeom>
          <a:solidFill>
            <a:srgbClr val="F28C1B"/>
          </a:solidFill>
          <a:ln w="12700">
            <a:solidFill>
              <a:srgbClr val="F28C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29828" y="4393692"/>
            <a:ext cx="329184" cy="1463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/>
          </a:p>
        </p:txBody>
      </p:sp>
      <p:sp>
        <p:nvSpPr>
          <p:cNvPr id="64" name="Text 62"/>
          <p:cNvSpPr/>
          <p:nvPr/>
        </p:nvSpPr>
        <p:spPr>
          <a:xfrm>
            <a:off x="6823020" y="4352544"/>
            <a:ext cx="32004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3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finale e analisi</a:t>
            </a:r>
            <a:endParaRPr lang="en-US" sz="1330"/>
          </a:p>
        </p:txBody>
      </p:sp>
      <p:sp>
        <p:nvSpPr>
          <p:cNvPr id="65" name="Text 63"/>
          <p:cNvSpPr/>
          <p:nvPr/>
        </p:nvSpPr>
        <p:spPr>
          <a:xfrm>
            <a:off x="6448116" y="4736592"/>
            <a:ext cx="4800600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>
              <a:spcAft>
                <a:spcPts val="0"/>
              </a:spcAft>
            </a:pP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Dai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datset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finali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 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costruisco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tabelle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grafici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descrittivi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pool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bilanciati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</a:t>
            </a:r>
            <a:r>
              <a:rPr lang="en-US" sz="10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modelli</a:t>
            </a:r>
            <a:r>
              <a:rPr lang="en-US" sz="10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Random Forest + SHAP.</a:t>
            </a:r>
            <a:endParaRPr lang="en-US" sz="1000">
              <a:latin typeface="Aptos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17232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1078992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Utility window: perché 10 giorni?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225296"/>
            <a:ext cx="1106424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7DEE8">
                <a:alpha val="9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41248" y="1527048"/>
            <a:ext cx="82296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589788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ptos"/>
              </a:rPr>
              <a:t>La finestra di osservazione pre-evento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865376"/>
            <a:ext cx="598932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ptos"/>
              </a:rPr>
              <a:t>Serve a calcolare solo segnali già osservabili prima della decisione ufficiale.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633472"/>
            <a:ext cx="1188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Aptos"/>
              </a:rPr>
              <a:t>T − 10 giorni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82512" y="2633472"/>
            <a:ext cx="182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ptos"/>
              </a:rPr>
              <a:t>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15568" y="2441448"/>
            <a:ext cx="52578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005840" y="2304288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245352" y="2267712"/>
            <a:ext cx="329184" cy="3291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404872" y="2221992"/>
            <a:ext cx="283464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[event_time − 10d, event_time)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1024128" y="2971800"/>
            <a:ext cx="576072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70" i="1" dirty="0">
                <a:solidFill>
                  <a:srgbClr val="1F2937"/>
                </a:solidFill>
                <a:latin typeface="Aptos"/>
              </a:rPr>
              <a:t>T è escluso: non entra informazione successiva al takedown.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1024128" y="3493008"/>
            <a:ext cx="580644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30" b="1" dirty="0">
                <a:solidFill>
                  <a:srgbClr val="1F2937"/>
                </a:solidFill>
                <a:latin typeface="Aptos"/>
              </a:rPr>
              <a:t>T = </a:t>
            </a:r>
            <a:r>
              <a:rPr lang="en-US" sz="1330" dirty="0">
                <a:solidFill>
                  <a:srgbClr val="1F2937"/>
                </a:solidFill>
                <a:latin typeface="Aptos"/>
              </a:rPr>
              <a:t>primo !takedown per i positivi; pseudo-event_time per i negativi nello stesso giorno dei positivi.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1024128" y="4005072"/>
            <a:ext cx="580644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30" b="1" dirty="0">
                <a:solidFill>
                  <a:srgbClr val="1F2937"/>
                </a:solidFill>
                <a:latin typeface="Aptos"/>
              </a:rPr>
              <a:t>Dentro la finestra: </a:t>
            </a:r>
            <a:r>
              <a:rPr lang="en-US" sz="1330" dirty="0">
                <a:solidFill>
                  <a:srgbClr val="1F2937"/>
                </a:solidFill>
                <a:latin typeface="Aptos"/>
              </a:rPr>
              <a:t>post, follow ricevuti, blocchi, unique blockers, labels e modlist.</a:t>
            </a:r>
            <a:endParaRPr lang="en-US" sz="1330" dirty="0"/>
          </a:p>
        </p:txBody>
      </p:sp>
      <p:sp>
        <p:nvSpPr>
          <p:cNvPr id="17" name="Shape 15"/>
          <p:cNvSpPr/>
          <p:nvPr/>
        </p:nvSpPr>
        <p:spPr>
          <a:xfrm>
            <a:off x="7333488" y="1527048"/>
            <a:ext cx="82296" cy="4937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543800" y="1481328"/>
            <a:ext cx="361188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Aptos"/>
              </a:rPr>
              <a:t>Perché proprio 10 giorni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543800" y="1938528"/>
            <a:ext cx="3474720" cy="7132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Aptos"/>
              </a:rPr>
              <a:t>La scelta deriva dallo script true_takedown_utility_window.py: sui post pre-evento viene stimata la storia minima utile, poi si seleziona la finestra più piccola nella griglia candidata.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43800" y="2980944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543800" y="3040380"/>
            <a:ext cx="292608" cy="1097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/>
              </a:rPr>
              <a:t>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73568" y="2971800"/>
            <a:ext cx="2606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q80ᵢ per account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7973568" y="3218688"/>
            <a:ext cx="29718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70" dirty="0">
                <a:solidFill>
                  <a:srgbClr val="1F2937"/>
                </a:solidFill>
                <a:latin typeface="Aptos"/>
              </a:rPr>
              <a:t>distanza che contiene l’80% dei post pre-evento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543800" y="3730752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543800" y="3790188"/>
            <a:ext cx="292608" cy="1097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73568" y="3721608"/>
            <a:ext cx="2606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Q75(q80ᵢ)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973568" y="3968496"/>
            <a:ext cx="29718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70" dirty="0">
                <a:solidFill>
                  <a:srgbClr val="1F2937"/>
                </a:solidFill>
                <a:latin typeface="Aptos"/>
              </a:rPr>
              <a:t>soglia robusta tra account con storia sufficiente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543800" y="4480560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543800" y="4539996"/>
            <a:ext cx="292608" cy="1097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/>
              </a:rPr>
              <a:t>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973568" y="4471416"/>
            <a:ext cx="2606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30" b="1" dirty="0">
                <a:solidFill>
                  <a:srgbClr val="1F2937"/>
                </a:solidFill>
                <a:latin typeface="Aptos"/>
              </a:rPr>
              <a:t>griglia candidate</a:t>
            </a:r>
            <a:endParaRPr lang="en-US" sz="1230" dirty="0"/>
          </a:p>
        </p:txBody>
      </p:sp>
      <p:sp>
        <p:nvSpPr>
          <p:cNvPr id="31" name="Text 29"/>
          <p:cNvSpPr/>
          <p:nvPr/>
        </p:nvSpPr>
        <p:spPr>
          <a:xfrm>
            <a:off x="7973568" y="4718304"/>
            <a:ext cx="29718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70" dirty="0">
                <a:solidFill>
                  <a:srgbClr val="1F2937"/>
                </a:solidFill>
                <a:latin typeface="Aptos"/>
              </a:rPr>
              <a:t>scelta della finestra minima che supera la soglia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1024128" y="5074920"/>
            <a:ext cx="1001268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1024128" y="5376672"/>
            <a:ext cx="114300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Aptos"/>
              </a:rPr>
              <a:t>Esito operativo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78608" y="5285232"/>
            <a:ext cx="1417320" cy="34747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F2937"/>
                </a:solidFill>
                <a:latin typeface="Aptos"/>
              </a:rPr>
              <a:t>10 giorni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160520" y="5330952"/>
            <a:ext cx="713232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40" dirty="0">
                <a:solidFill>
                  <a:srgbClr val="1F2937"/>
                </a:solidFill>
                <a:latin typeface="Aptos"/>
              </a:rPr>
              <a:t>abbastanza lunga da catturare segnali recenti, abbastanza corta da non trascinare storia troppo lontana dal takedown.</a:t>
            </a:r>
            <a:endParaRPr lang="en-US" sz="124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320040" cy="1554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ptos"/>
              </a:rPr>
              <a:t>10</a:t>
            </a:r>
            <a:endParaRPr lang="en-US" sz="800" dirty="0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6249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5AA7"/>
          </a:solidFill>
          <a:ln w="12700">
            <a:solidFill>
              <a:srgbClr val="1E5AA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21792" y="658368"/>
            <a:ext cx="108813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Confronto a parità di esposizione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241280" cy="28346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45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 evitare confronti distorti, positivi e negativi vengono letti dentro gruppi con attività e visibilità simili.</a:t>
            </a:r>
            <a:endParaRPr lang="en-US" sz="1450"/>
          </a:p>
        </p:txBody>
      </p:sp>
      <p:sp>
        <p:nvSpPr>
          <p:cNvPr id="6" name="Shape 4"/>
          <p:cNvSpPr/>
          <p:nvPr/>
        </p:nvSpPr>
        <p:spPr>
          <a:xfrm>
            <a:off x="713232" y="1664208"/>
            <a:ext cx="10771632" cy="4507992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  <a:effectLst>
            <a:outerShdw blurRad="25400" dist="50800" dir="2700000" algn="bl" rotWithShape="0">
              <a:srgbClr val="C8D1DF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50976" y="1901952"/>
            <a:ext cx="10277856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170432" y="2011680"/>
            <a:ext cx="78638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80" b="1">
                <a:solidFill>
                  <a:srgbClr val="1F2937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Come ho reso comparabili gli account</a:t>
            </a:r>
            <a:endParaRPr lang="en-US" sz="1580"/>
          </a:p>
        </p:txBody>
      </p:sp>
      <p:sp>
        <p:nvSpPr>
          <p:cNvPr id="9" name="Text 7"/>
          <p:cNvSpPr/>
          <p:nvPr/>
        </p:nvSpPr>
        <p:spPr>
          <a:xfrm>
            <a:off x="1097280" y="2615184"/>
            <a:ext cx="9921240" cy="28803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</a:pP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Perché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divido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un account molto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o molto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seguito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può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ricevere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più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blocchi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solo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perché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è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più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visibile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 La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divisione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serve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quindi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confrontare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davvero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simili.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Variabili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usate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post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pubblicati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nei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10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giorni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pre-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e follow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ricevuti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dall’inizio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della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finestra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fino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allo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(pseudo-)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evento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Cosa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bucket: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classi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ordinate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che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trasformano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post e follow in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livelli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0 · 1 · 2 · 3–5 · 6–10 · 11–25 · 26–50 · 51–100 · 101–250 · 251–500 · 501–1000 · 1001+.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Cosa </a:t>
            </a:r>
            <a:r>
              <a:rPr lang="en-US" sz="1550" b="1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indicano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non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misurano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il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valore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esatto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, ma il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livello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di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attività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/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visibilità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dell’account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prima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dell’evento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
</a:t>
            </a:r>
            <a:r>
              <a:rPr lang="en-US" sz="1550" b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• Corner: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dai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due bucket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ricavo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quattro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gruppi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generali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00 = 0 post/0 follower; 0p = 0 post/con follower; p0 = con post/0 follower; pp = con post/con follower.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Questi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gruppi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verranno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poi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usati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per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distinguere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senza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esposizione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da account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più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55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osservabili</a:t>
            </a:r>
            <a:r>
              <a:rPr lang="en-US" sz="155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550">
              <a:latin typeface="Apto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1708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83464" y="274320"/>
            <a:ext cx="11292840" cy="0"/>
          </a:xfrm>
          <a:prstGeom prst="line">
            <a:avLst/>
          </a:prstGeom>
          <a:noFill/>
          <a:ln w="12700">
            <a:solidFill>
              <a:srgbClr val="B8DA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58368" y="530352"/>
            <a:ext cx="108813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500" b="1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RISULTATI PRINCIPALI EMERSI</a:t>
            </a:r>
            <a:endParaRPr lang="en-US" sz="2500"/>
          </a:p>
        </p:txBody>
      </p:sp>
      <p:sp>
        <p:nvSpPr>
          <p:cNvPr id="6" name="Text 4"/>
          <p:cNvSpPr/>
          <p:nvPr/>
        </p:nvSpPr>
        <p:spPr>
          <a:xfrm>
            <a:off x="775643" y="1087991"/>
            <a:ext cx="4389120" cy="183171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6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operativa</a:t>
            </a:r>
            <a:endParaRPr lang="en-US" sz="1060"/>
          </a:p>
        </p:txBody>
      </p:sp>
      <p:sp>
        <p:nvSpPr>
          <p:cNvPr id="7" name="Text 5"/>
          <p:cNvSpPr/>
          <p:nvPr/>
        </p:nvSpPr>
        <p:spPr>
          <a:xfrm>
            <a:off x="6051731" y="1087991"/>
            <a:ext cx="4389120" cy="183171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6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sintetico</a:t>
            </a:r>
            <a:endParaRPr lang="en-US" sz="1060"/>
          </a:p>
        </p:txBody>
      </p:sp>
      <p:sp>
        <p:nvSpPr>
          <p:cNvPr id="8" name="Shape 6"/>
          <p:cNvSpPr/>
          <p:nvPr/>
        </p:nvSpPr>
        <p:spPr>
          <a:xfrm>
            <a:off x="629339" y="1376027"/>
            <a:ext cx="10927080" cy="458870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20779" y="1590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48795" y="1408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1040"/>
          </a:p>
        </p:txBody>
      </p:sp>
      <p:sp>
        <p:nvSpPr>
          <p:cNvPr id="11" name="Text 9"/>
          <p:cNvSpPr/>
          <p:nvPr/>
        </p:nvSpPr>
        <p:spPr>
          <a:xfrm>
            <a:off x="1068251" y="1412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 si distribuiscono i positivi rispetto al livello di esposizione pubblica?</a:t>
            </a:r>
            <a:endParaRPr lang="en-US" sz="1020"/>
          </a:p>
        </p:txBody>
      </p:sp>
      <p:sp>
        <p:nvSpPr>
          <p:cNvPr id="12" name="Text 10"/>
          <p:cNvSpPr/>
          <p:nvPr/>
        </p:nvSpPr>
        <p:spPr>
          <a:xfrm>
            <a:off x="6051731" y="1412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60,23% nel corner 00: 0 post e 0 follower.</a:t>
            </a:r>
            <a:endParaRPr lang="en-US" sz="1020"/>
          </a:p>
        </p:txBody>
      </p:sp>
      <p:sp>
        <p:nvSpPr>
          <p:cNvPr id="13" name="Shape 11"/>
          <p:cNvSpPr/>
          <p:nvPr/>
        </p:nvSpPr>
        <p:spPr>
          <a:xfrm>
            <a:off x="720779" y="2122911"/>
            <a:ext cx="50292" cy="50292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48795" y="1940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1040"/>
          </a:p>
        </p:txBody>
      </p:sp>
      <p:sp>
        <p:nvSpPr>
          <p:cNvPr id="15" name="Text 13"/>
          <p:cNvSpPr/>
          <p:nvPr/>
        </p:nvSpPr>
        <p:spPr>
          <a:xfrm>
            <a:off x="1068251" y="1944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blocchi distinguono positivi e negativi?</a:t>
            </a:r>
            <a:endParaRPr lang="en-US" sz="1040"/>
          </a:p>
        </p:txBody>
      </p:sp>
      <p:sp>
        <p:nvSpPr>
          <p:cNvPr id="16" name="Text 14"/>
          <p:cNvSpPr/>
          <p:nvPr/>
        </p:nvSpPr>
        <p:spPr>
          <a:xfrm>
            <a:off x="6051731" y="1944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positivi più bloccati nei 10 giorni pre-takedown.</a:t>
            </a:r>
            <a:endParaRPr lang="en-US" sz="1020"/>
          </a:p>
        </p:txBody>
      </p:sp>
      <p:sp>
        <p:nvSpPr>
          <p:cNvPr id="17" name="Shape 15"/>
          <p:cNvSpPr/>
          <p:nvPr/>
        </p:nvSpPr>
        <p:spPr>
          <a:xfrm>
            <a:off x="629339" y="2440027"/>
            <a:ext cx="10927080" cy="458870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20779" y="2654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8795" y="2472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1040"/>
          </a:p>
        </p:txBody>
      </p:sp>
      <p:sp>
        <p:nvSpPr>
          <p:cNvPr id="20" name="Text 18"/>
          <p:cNvSpPr/>
          <p:nvPr/>
        </p:nvSpPr>
        <p:spPr>
          <a:xfrm>
            <a:off x="1068251" y="2476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segnale resta valido a parità di esposizione?</a:t>
            </a:r>
            <a:endParaRPr lang="en-US" sz="1040"/>
          </a:p>
        </p:txBody>
      </p:sp>
      <p:sp>
        <p:nvSpPr>
          <p:cNvPr id="21" name="Text 19"/>
          <p:cNvSpPr/>
          <p:nvPr/>
        </p:nvSpPr>
        <p:spPr>
          <a:xfrm>
            <a:off x="6051731" y="2476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anche controllando post e follower, i positivi hanno più blocchi.</a:t>
            </a:r>
            <a:endParaRPr lang="en-US" sz="1020"/>
          </a:p>
        </p:txBody>
      </p:sp>
      <p:sp>
        <p:nvSpPr>
          <p:cNvPr id="22" name="Shape 20"/>
          <p:cNvSpPr/>
          <p:nvPr/>
        </p:nvSpPr>
        <p:spPr>
          <a:xfrm>
            <a:off x="720779" y="3186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48795" y="3004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1040"/>
          </a:p>
        </p:txBody>
      </p:sp>
      <p:sp>
        <p:nvSpPr>
          <p:cNvPr id="24" name="Text 22"/>
          <p:cNvSpPr/>
          <p:nvPr/>
        </p:nvSpPr>
        <p:spPr>
          <a:xfrm>
            <a:off x="1068251" y="3008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emerge il segnale dei blocchi?</a:t>
            </a:r>
            <a:endParaRPr lang="en-US" sz="1040"/>
          </a:p>
        </p:txBody>
      </p:sp>
      <p:sp>
        <p:nvSpPr>
          <p:cNvPr id="25" name="Text 23"/>
          <p:cNvSpPr/>
          <p:nvPr/>
        </p:nvSpPr>
        <p:spPr>
          <a:xfrm>
            <a:off x="6051731" y="3008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Soprattutto vicino a T: il giorno immediatamente precedente è il più informativo.</a:t>
            </a:r>
            <a:endParaRPr lang="en-US" sz="1020"/>
          </a:p>
        </p:txBody>
      </p:sp>
      <p:sp>
        <p:nvSpPr>
          <p:cNvPr id="26" name="Shape 24"/>
          <p:cNvSpPr/>
          <p:nvPr/>
        </p:nvSpPr>
        <p:spPr>
          <a:xfrm>
            <a:off x="629339" y="3504027"/>
            <a:ext cx="10927080" cy="458870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20779" y="3718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8795" y="3536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1040"/>
          </a:p>
        </p:txBody>
      </p:sp>
      <p:sp>
        <p:nvSpPr>
          <p:cNvPr id="29" name="Text 27"/>
          <p:cNvSpPr/>
          <p:nvPr/>
        </p:nvSpPr>
        <p:spPr>
          <a:xfrm>
            <a:off x="1068251" y="3540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segnale cambia per tipo di account?</a:t>
            </a:r>
            <a:endParaRPr lang="en-US" sz="1040"/>
          </a:p>
        </p:txBody>
      </p:sp>
      <p:sp>
        <p:nvSpPr>
          <p:cNvPr id="30" name="Text 28"/>
          <p:cNvSpPr/>
          <p:nvPr/>
        </p:nvSpPr>
        <p:spPr>
          <a:xfrm>
            <a:off x="6051731" y="3540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debole nel 00; cresce in 0p/p0 e soprattutto pp.</a:t>
            </a:r>
            <a:endParaRPr lang="en-US" sz="1020"/>
          </a:p>
        </p:txBody>
      </p:sp>
      <p:sp>
        <p:nvSpPr>
          <p:cNvPr id="31" name="Shape 29"/>
          <p:cNvSpPr/>
          <p:nvPr/>
        </p:nvSpPr>
        <p:spPr>
          <a:xfrm>
            <a:off x="720779" y="4250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48795" y="4068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1040"/>
          </a:p>
        </p:txBody>
      </p:sp>
      <p:sp>
        <p:nvSpPr>
          <p:cNvPr id="33" name="Text 31"/>
          <p:cNvSpPr/>
          <p:nvPr/>
        </p:nvSpPr>
        <p:spPr>
          <a:xfrm>
            <a:off x="1068251" y="4072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</a:pPr>
            <a:r>
              <a:rPr lang="en-US" sz="1000" b="1" dirty="0">
                <a:solidFill>
                  <a:srgbClr val="1F2937"/>
                </a:solidFill>
                <a:latin typeface="Aptos"/>
              </a:rPr>
              <a:t>La Random Forest </a:t>
            </a:r>
            <a:r>
              <a:rPr lang="en-US" sz="1000" b="1" dirty="0" err="1">
                <a:solidFill>
                  <a:srgbClr val="1F2937"/>
                </a:solidFill>
                <a:latin typeface="Aptos"/>
              </a:rPr>
              <a:t>conferma</a:t>
            </a:r>
            <a:r>
              <a:rPr lang="en-US" sz="1000" b="1" dirty="0">
                <a:solidFill>
                  <a:srgbClr val="1F2937"/>
                </a:solidFill>
                <a:latin typeface="Aptos"/>
              </a:rPr>
              <a:t> il </a:t>
            </a:r>
            <a:r>
              <a:rPr lang="en-US" sz="1000" b="1" dirty="0" err="1">
                <a:solidFill>
                  <a:srgbClr val="1F2937"/>
                </a:solidFill>
                <a:latin typeface="Aptos"/>
              </a:rPr>
              <a:t>ruolo</a:t>
            </a:r>
            <a:r>
              <a:rPr lang="en-US" sz="1000" b="1" dirty="0">
                <a:solidFill>
                  <a:srgbClr val="1F2937"/>
                </a:solidFill>
                <a:latin typeface="Aptos"/>
              </a:rPr>
              <a:t> del corner 00?</a:t>
            </a:r>
            <a:endParaRPr lang="en-US" sz="1000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051731" y="4072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7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Sì: F1 ≈ 0,38 nel pool completo; ≈ 0,73 senza 00.</a:t>
            </a:r>
            <a:endParaRPr lang="en-US" sz="970"/>
          </a:p>
        </p:txBody>
      </p:sp>
      <p:sp>
        <p:nvSpPr>
          <p:cNvPr id="35" name="Shape 33"/>
          <p:cNvSpPr/>
          <p:nvPr/>
        </p:nvSpPr>
        <p:spPr>
          <a:xfrm>
            <a:off x="629339" y="4568027"/>
            <a:ext cx="10927080" cy="451612"/>
          </a:xfrm>
          <a:prstGeom prst="roundRect">
            <a:avLst>
              <a:gd name="adj" fmla="val 13223"/>
            </a:avLst>
          </a:prstGeom>
          <a:solidFill>
            <a:srgbClr val="EAF5FC"/>
          </a:solidFill>
          <a:ln w="12700">
            <a:solidFill>
              <a:srgbClr val="EAF5F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20779" y="4782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48795" y="4600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1040"/>
          </a:p>
        </p:txBody>
      </p:sp>
      <p:sp>
        <p:nvSpPr>
          <p:cNvPr id="38" name="Text 36"/>
          <p:cNvSpPr/>
          <p:nvPr/>
        </p:nvSpPr>
        <p:spPr>
          <a:xfrm>
            <a:off x="1068251" y="4604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è il risultato dell’analisi principale?</a:t>
            </a:r>
            <a:endParaRPr lang="en-US" sz="1040"/>
          </a:p>
        </p:txBody>
      </p:sp>
      <p:sp>
        <p:nvSpPr>
          <p:cNvPr id="39" name="Text 37"/>
          <p:cNvSpPr/>
          <p:nvPr/>
        </p:nvSpPr>
        <p:spPr>
          <a:xfrm>
            <a:off x="6051731" y="4604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2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No 00: CV F1 0,688 · AUC 0,760; pp AUC 0,819.</a:t>
            </a:r>
            <a:endParaRPr lang="en-US" sz="1020"/>
          </a:p>
        </p:txBody>
      </p:sp>
      <p:sp>
        <p:nvSpPr>
          <p:cNvPr id="42" name="Shape 29 row8"/>
          <p:cNvSpPr/>
          <p:nvPr/>
        </p:nvSpPr>
        <p:spPr>
          <a:xfrm>
            <a:off x="720779" y="5314911"/>
            <a:ext cx="50292" cy="43035"/>
          </a:xfrm>
          <a:prstGeom prst="ellipse">
            <a:avLst/>
          </a:prstGeom>
          <a:solidFill>
            <a:srgbClr val="159AD6"/>
          </a:solidFill>
          <a:ln w="12700">
            <a:solidFill>
              <a:srgbClr val="159AD6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30 row8"/>
          <p:cNvSpPr/>
          <p:nvPr/>
        </p:nvSpPr>
        <p:spPr>
          <a:xfrm>
            <a:off x="848795" y="5132031"/>
            <a:ext cx="201168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4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1040"/>
          </a:p>
        </p:txBody>
      </p:sp>
      <p:sp>
        <p:nvSpPr>
          <p:cNvPr id="44" name="Text 31 row8"/>
          <p:cNvSpPr/>
          <p:nvPr/>
        </p:nvSpPr>
        <p:spPr>
          <a:xfrm>
            <a:off x="1068251" y="5136603"/>
            <a:ext cx="4617720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Labels e modlist sono segnali predittivi utili?</a:t>
            </a:r>
            <a:endParaRPr lang="en-US" sz="1000" dirty="0">
              <a:latin typeface="Aptos"/>
            </a:endParaRPr>
          </a:p>
        </p:txBody>
      </p:sp>
      <p:sp>
        <p:nvSpPr>
          <p:cNvPr id="45" name="Text 32 row8"/>
          <p:cNvSpPr/>
          <p:nvPr/>
        </p:nvSpPr>
        <p:spPr>
          <a:xfrm>
            <a:off x="6051731" y="5136603"/>
            <a:ext cx="5285232" cy="392975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97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Poco: coverage bassa; labels post-level 2,34%, modlist 1,94% dei positivi.</a:t>
            </a:r>
            <a:endParaRPr lang="en-US" sz="970"/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541440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10471" y="4958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1.1 — Come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distribuiscono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positivi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rispetto al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livello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esposizione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pubblica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2800" b="1" dirty="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11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6035040" cy="39776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corner_composition_left.png"/>
          <p:cNvPicPr>
            <a:picLocks noChangeAspect="1"/>
          </p:cNvPicPr>
          <p:nvPr/>
        </p:nvPicPr>
        <p:blipFill>
          <a:blip r:embed="rId4"/>
          <a:srcRect l="-794" t="4907" b="-218"/>
          <a:stretch>
            <a:fillRect/>
          </a:stretch>
        </p:blipFill>
        <p:spPr>
          <a:xfrm>
            <a:off x="518982" y="1218210"/>
            <a:ext cx="6206284" cy="397397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7132320" y="1572768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Corner</a:t>
            </a:r>
            <a:endParaRPr lang="en-US" sz="1170"/>
          </a:p>
        </p:txBody>
      </p:sp>
      <p:sp>
        <p:nvSpPr>
          <p:cNvPr id="11" name="Text 8"/>
          <p:cNvSpPr/>
          <p:nvPr/>
        </p:nvSpPr>
        <p:spPr>
          <a:xfrm>
            <a:off x="9052560" y="1572768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Negativi</a:t>
            </a:r>
            <a:endParaRPr lang="en-US" sz="1170"/>
          </a:p>
        </p:txBody>
      </p:sp>
      <p:sp>
        <p:nvSpPr>
          <p:cNvPr id="12" name="Text 9"/>
          <p:cNvSpPr/>
          <p:nvPr/>
        </p:nvSpPr>
        <p:spPr>
          <a:xfrm>
            <a:off x="10058400" y="1572768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Positivi</a:t>
            </a:r>
            <a:endParaRPr lang="en-US" sz="1170"/>
          </a:p>
        </p:txBody>
      </p:sp>
      <p:sp>
        <p:nvSpPr>
          <p:cNvPr id="13" name="Text 10"/>
          <p:cNvSpPr/>
          <p:nvPr/>
        </p:nvSpPr>
        <p:spPr>
          <a:xfrm>
            <a:off x="7132320" y="2066544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00 · 0 post / 0 follower</a:t>
            </a:r>
            <a:endParaRPr lang="en-US" sz="1170"/>
          </a:p>
        </p:txBody>
      </p:sp>
      <p:sp>
        <p:nvSpPr>
          <p:cNvPr id="14" name="Text 11"/>
          <p:cNvSpPr/>
          <p:nvPr/>
        </p:nvSpPr>
        <p:spPr>
          <a:xfrm>
            <a:off x="9052560" y="2066544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33,81%</a:t>
            </a:r>
            <a:endParaRPr lang="en-US" sz="1170"/>
          </a:p>
        </p:txBody>
      </p:sp>
      <p:sp>
        <p:nvSpPr>
          <p:cNvPr id="15" name="Text 12"/>
          <p:cNvSpPr/>
          <p:nvPr/>
        </p:nvSpPr>
        <p:spPr>
          <a:xfrm>
            <a:off x="10058400" y="2066544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60,23%</a:t>
            </a:r>
            <a:endParaRPr lang="en-US" sz="1170"/>
          </a:p>
        </p:txBody>
      </p:sp>
      <p:sp>
        <p:nvSpPr>
          <p:cNvPr id="16" name="Text 13"/>
          <p:cNvSpPr/>
          <p:nvPr/>
        </p:nvSpPr>
        <p:spPr>
          <a:xfrm>
            <a:off x="7132320" y="2560320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0p · 0 post / follower</a:t>
            </a:r>
            <a:endParaRPr lang="en-US" sz="1170"/>
          </a:p>
        </p:txBody>
      </p:sp>
      <p:sp>
        <p:nvSpPr>
          <p:cNvPr id="17" name="Text 14"/>
          <p:cNvSpPr/>
          <p:nvPr/>
        </p:nvSpPr>
        <p:spPr>
          <a:xfrm>
            <a:off x="9052560" y="2560320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10,43%</a:t>
            </a:r>
            <a:endParaRPr lang="en-US" sz="1170"/>
          </a:p>
        </p:txBody>
      </p:sp>
      <p:sp>
        <p:nvSpPr>
          <p:cNvPr id="18" name="Text 15"/>
          <p:cNvSpPr/>
          <p:nvPr/>
        </p:nvSpPr>
        <p:spPr>
          <a:xfrm>
            <a:off x="10058400" y="2560320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12,37%</a:t>
            </a:r>
            <a:endParaRPr lang="en-US" sz="1170"/>
          </a:p>
        </p:txBody>
      </p:sp>
      <p:sp>
        <p:nvSpPr>
          <p:cNvPr id="19" name="Text 16"/>
          <p:cNvSpPr/>
          <p:nvPr/>
        </p:nvSpPr>
        <p:spPr>
          <a:xfrm>
            <a:off x="7132320" y="3054096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p0 · post / 0 follower</a:t>
            </a:r>
            <a:endParaRPr lang="en-US" sz="1170"/>
          </a:p>
        </p:txBody>
      </p:sp>
      <p:sp>
        <p:nvSpPr>
          <p:cNvPr id="20" name="Text 17"/>
          <p:cNvSpPr/>
          <p:nvPr/>
        </p:nvSpPr>
        <p:spPr>
          <a:xfrm>
            <a:off x="9052560" y="3054096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17,21%</a:t>
            </a:r>
            <a:endParaRPr lang="en-US" sz="1170"/>
          </a:p>
        </p:txBody>
      </p:sp>
      <p:sp>
        <p:nvSpPr>
          <p:cNvPr id="21" name="Text 18"/>
          <p:cNvSpPr/>
          <p:nvPr/>
        </p:nvSpPr>
        <p:spPr>
          <a:xfrm>
            <a:off x="10058400" y="3054096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9,99%</a:t>
            </a:r>
            <a:endParaRPr lang="en-US" sz="1170"/>
          </a:p>
        </p:txBody>
      </p:sp>
      <p:sp>
        <p:nvSpPr>
          <p:cNvPr id="22" name="Text 19"/>
          <p:cNvSpPr/>
          <p:nvPr/>
        </p:nvSpPr>
        <p:spPr>
          <a:xfrm>
            <a:off x="7132320" y="3547872"/>
            <a:ext cx="19202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70" b="1">
                <a:solidFill>
                  <a:srgbClr val="1F2937"/>
                </a:solidFill>
                <a:latin typeface="Aptos"/>
              </a:rPr>
              <a:t>pp · post / follower</a:t>
            </a:r>
            <a:endParaRPr lang="en-US" sz="1170"/>
          </a:p>
        </p:txBody>
      </p:sp>
      <p:sp>
        <p:nvSpPr>
          <p:cNvPr id="23" name="Text 20"/>
          <p:cNvSpPr/>
          <p:nvPr/>
        </p:nvSpPr>
        <p:spPr>
          <a:xfrm>
            <a:off x="9052560" y="3547872"/>
            <a:ext cx="100584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38,55%</a:t>
            </a:r>
            <a:endParaRPr lang="en-US" sz="1170"/>
          </a:p>
        </p:txBody>
      </p:sp>
      <p:sp>
        <p:nvSpPr>
          <p:cNvPr id="24" name="Text 21"/>
          <p:cNvSpPr/>
          <p:nvPr/>
        </p:nvSpPr>
        <p:spPr>
          <a:xfrm>
            <a:off x="10058400" y="3547872"/>
            <a:ext cx="1051560" cy="493776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70">
                <a:solidFill>
                  <a:srgbClr val="1F2937"/>
                </a:solidFill>
                <a:latin typeface="Aptos"/>
              </a:rPr>
              <a:t>17,42%</a:t>
            </a:r>
            <a:endParaRPr lang="en-US" sz="1170"/>
          </a:p>
        </p:txBody>
      </p:sp>
      <p:sp>
        <p:nvSpPr>
          <p:cNvPr id="25" name="Text 22"/>
          <p:cNvSpPr/>
          <p:nvPr/>
        </p:nvSpPr>
        <p:spPr>
          <a:xfrm>
            <a:off x="7178040" y="4343400"/>
            <a:ext cx="3794760" cy="8412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lnSpcReduction="1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 b="1">
                <a:solidFill>
                  <a:srgbClr val="1F2937"/>
                </a:solidFill>
                <a:latin typeface="Aptos"/>
              </a:rPr>
              <a:t>Il punto non è solo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quantitativo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: il 60%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dei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positivi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si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trova in un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gruppo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dove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pubblici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dai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noi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osservati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 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sono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quasi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assenti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 per </a:t>
            </a:r>
            <a:r>
              <a:rPr lang="en-US" sz="1450" b="1" err="1">
                <a:solidFill>
                  <a:srgbClr val="1F2937"/>
                </a:solidFill>
                <a:latin typeface="Aptos"/>
              </a:rPr>
              <a:t>definizione</a:t>
            </a:r>
            <a:r>
              <a:rPr lang="en-US" sz="1450" b="1">
                <a:solidFill>
                  <a:srgbClr val="1F2937"/>
                </a:solidFill>
                <a:latin typeface="Aptos"/>
              </a:rPr>
              <a:t>.</a:t>
            </a:r>
            <a:endParaRPr lang="en-US" sz="1450"/>
          </a:p>
        </p:txBody>
      </p:sp>
      <p:sp>
        <p:nvSpPr>
          <p:cNvPr id="26" name="Text 23"/>
          <p:cNvSpPr/>
          <p:nvPr/>
        </p:nvSpPr>
        <p:spPr>
          <a:xfrm>
            <a:off x="1051560" y="5650992"/>
            <a:ext cx="99212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 dirty="0">
                <a:solidFill>
                  <a:srgbClr val="1F2937"/>
                </a:solidFill>
                <a:latin typeface="Aptos"/>
              </a:rPr>
              <a:t>Il dataset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dei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positivi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non è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omogeneo</a:t>
            </a:r>
            <a:endParaRPr lang="it-IT" dirty="0" err="1"/>
          </a:p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450" b="1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1.2 — il corner 00 ha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una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dinamica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propria</a:t>
            </a:r>
            <a:endParaRPr lang="en-US" sz="2750" dirty="0"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92124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30" b="1">
                <a:solidFill>
                  <a:srgbClr val="11233D"/>
                </a:solidFill>
                <a:latin typeface="Aptos"/>
              </a:rPr>
              <a:t>Non è semplice rumore: è una popolazione diversa di account</a:t>
            </a:r>
            <a:endParaRPr lang="en-US" sz="1130"/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12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777240" y="1280160"/>
            <a:ext cx="6126480" cy="379476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rf_and_shap_on_blocks_cell03_out0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924" y="1298448"/>
            <a:ext cx="6059113" cy="375818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7406640" y="1417320"/>
            <a:ext cx="269748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 fontScale="70000" lnSpcReduction="20000"/>
          </a:bodyPr>
          <a:lstStyle/>
          <a:p>
            <a:pPr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4200" b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≈ 42 ore</a:t>
            </a:r>
            <a:endParaRPr lang="en-US" sz="4200">
              <a:latin typeface="Apto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06640" y="1856232"/>
            <a:ext cx="269748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spcAft>
                <a:spcPts val="0"/>
              </a:spcAft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000" b="1">
                <a:solidFill>
                  <a:srgbClr val="1F2937"/>
                </a:solidFill>
                <a:latin typeface="Aptos"/>
              </a:rPr>
              <a:t>Media lifetime </a:t>
            </a:r>
            <a:r>
              <a:rPr lang="en-US" sz="1000" b="1" err="1">
                <a:solidFill>
                  <a:srgbClr val="1F2937"/>
                </a:solidFill>
                <a:latin typeface="Aptos"/>
              </a:rPr>
              <a:t>nel</a:t>
            </a:r>
            <a:r>
              <a:rPr lang="en-US" sz="1000" b="1">
                <a:solidFill>
                  <a:srgbClr val="1F2937"/>
                </a:solidFill>
                <a:latin typeface="Aptos"/>
              </a:rPr>
              <a:t> corner 00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7406640" y="2432304"/>
            <a:ext cx="3429000" cy="10789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>
                <a:solidFill>
                  <a:srgbClr val="1F2937"/>
                </a:solidFill>
                <a:latin typeface="Aptos"/>
              </a:rPr>
              <a:t>Gli account 00 vengono intercettati prima di accumulare segnali pubblici: non hanno post, non hanno follower e quasi mai ricevono blocchi osservabili.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>
          <a:xfrm>
            <a:off x="7406640" y="3977640"/>
            <a:ext cx="3383280" cy="7772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40">
                <a:solidFill>
                  <a:srgbClr val="1F2937"/>
                </a:solidFill>
                <a:latin typeface="Aptos"/>
              </a:rPr>
              <a:t>Interpretazione coerente con account usa-e-getta, spam, ban evasion o altri pattern anti-abuso account-level.</a:t>
            </a:r>
            <a:endParaRPr lang="en-US" sz="1440"/>
          </a:p>
        </p:txBody>
      </p:sp>
      <p:sp>
        <p:nvSpPr>
          <p:cNvPr id="14" name="Text 11"/>
          <p:cNvSpPr/>
          <p:nvPr/>
        </p:nvSpPr>
        <p:spPr>
          <a:xfrm>
            <a:off x="960120" y="5559552"/>
            <a:ext cx="10058400" cy="980585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Questa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evidenza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spiega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perché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i="0" u="none" strike="noStrike" baseline="0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il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modello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completo</a:t>
            </a:r>
            <a:r>
              <a:rPr lang="en-US" sz="1450" b="1" dirty="0">
                <a:solidFill>
                  <a:srgbClr val="1F2937"/>
                </a:solidFill>
                <a:latin typeface="Aptos"/>
                <a:ea typeface="Aptos"/>
                <a:cs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  <a:ea typeface="Aptos"/>
                <a:cs typeface="Aptos"/>
              </a:rPr>
              <a:t>fatica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: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molti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positivi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non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hanno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il tempo di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lasciare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segnali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450" b="1" dirty="0" err="1">
                <a:solidFill>
                  <a:srgbClr val="1F2937"/>
                </a:solidFill>
                <a:latin typeface="Aptos"/>
              </a:rPr>
              <a:t>comunitari</a:t>
            </a:r>
            <a:r>
              <a:rPr lang="en-US" sz="1450" b="1" dirty="0">
                <a:solidFill>
                  <a:srgbClr val="1F2937"/>
                </a:solidFill>
                <a:latin typeface="Aptos"/>
              </a:rPr>
              <a:t>.</a:t>
            </a:r>
            <a:endParaRPr lang="en-US" sz="1450"/>
          </a:p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Conseguenza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metodologica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: Nella successive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analisi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eventualmente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separeremo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il corner 00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386951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2 - I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blocchi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distinguono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positivi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e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negativi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>
              <a:defRPr>
                <a:solidFill>
                  <a:srgbClr val="09192A"/>
                </a:solidFill>
                <a:latin typeface="Aptos"/>
              </a:defRPr>
            </a:pPr>
            <a:endParaRPr lang="en-US" sz="2800" b="1">
              <a:solidFill>
                <a:srgbClr val="09192A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13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749808" y="1353312"/>
            <a:ext cx="4892040" cy="32918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03_out0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394460"/>
            <a:ext cx="4855464" cy="320954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Shape 7"/>
          <p:cNvSpPr/>
          <p:nvPr/>
        </p:nvSpPr>
        <p:spPr>
          <a:xfrm>
            <a:off x="6355080" y="1353312"/>
            <a:ext cx="4892040" cy="32918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mnt/data/notebook_figures/blocks_signal_v3_cell03_out02_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394460"/>
            <a:ext cx="4855464" cy="3209544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2" name="Text 8"/>
          <p:cNvSpPr/>
          <p:nvPr/>
        </p:nvSpPr>
        <p:spPr>
          <a:xfrm>
            <a:off x="1005840" y="5239512"/>
            <a:ext cx="10058400" cy="6583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 lnSpcReduction="10000"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Il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grafico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mostra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gli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poi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sottoposti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 takedown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ricevono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spesso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La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differenza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diventa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chiara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quando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separa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corner 00,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perché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lì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molti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rimossi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troppo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presto per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accumulare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osservabili</a:t>
            </a:r>
            <a:r>
              <a:rPr lang="en-US" sz="145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/>
          </a:p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1450" b="1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3.1 — Il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resta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valido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a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parità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esposizione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 marL="0" indent="0"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2800" b="1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1442" y="636306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14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563154" y="855762"/>
            <a:ext cx="11064240" cy="3977640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05_out01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42" y="942942"/>
            <a:ext cx="11027664" cy="3803280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1148080" y="5140234"/>
            <a:ext cx="9875520" cy="1194525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500" b="1" dirty="0">
                <a:solidFill>
                  <a:srgbClr val="1F2937"/>
                </a:solidFill>
                <a:latin typeface="Aptos"/>
              </a:rPr>
              <a:t>A </a:t>
            </a:r>
            <a:r>
              <a:rPr lang="en-US" sz="1500" b="1" dirty="0" err="1">
                <a:solidFill>
                  <a:srgbClr val="1F2937"/>
                </a:solidFill>
                <a:latin typeface="Aptos"/>
              </a:rPr>
              <a:t>parità</a:t>
            </a:r>
            <a:r>
              <a:rPr lang="en-US" sz="1500" b="1" dirty="0">
                <a:solidFill>
                  <a:srgbClr val="1F2937"/>
                </a:solidFill>
                <a:latin typeface="Aptos"/>
              </a:rPr>
              <a:t> di post bucket:</a:t>
            </a:r>
            <a:r>
              <a:rPr lang="en-US" sz="1500" b="1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</a:t>
            </a:r>
            <a:r>
              <a:rPr lang="en-US" sz="1500" b="1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bucket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bassi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mostrano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una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probabilità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alta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di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ricevere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almeno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numero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medio di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superiore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Nei bucket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alti la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differenza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sulla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quota con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almeno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un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riduce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perché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anche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esposti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ricevono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Tuttavia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resta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marcata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la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distanza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sull’intensità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media: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non solo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vengono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bloccati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ma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accumulano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5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5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 sz="1500" b="1" dirty="0">
              <a:solidFill>
                <a:srgbClr val="09192A"/>
              </a:solidFill>
              <a:latin typeface="Aptos"/>
            </a:endParaRPr>
          </a:p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endParaRPr lang="en-US" sz="1500" b="1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01168"/>
            <a:ext cx="8367804" cy="5232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550" b="1" dirty="0" err="1">
                <a:solidFill>
                  <a:srgbClr val="11233D"/>
                </a:solidFill>
                <a:latin typeface="Aptos"/>
              </a:rPr>
              <a:t>Risultato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</a:t>
            </a:r>
            <a:r>
              <a:rPr lang="it-IT" sz="2550" b="1" dirty="0">
                <a:solidFill>
                  <a:srgbClr val="11233D"/>
                </a:solidFill>
                <a:latin typeface="Aptos"/>
              </a:rPr>
              <a:t>3.2 </a:t>
            </a:r>
            <a:r>
              <a:rPr lang="en-US" sz="2800" b="1" dirty="0">
                <a:solidFill>
                  <a:srgbClr val="11233D"/>
                </a:solidFill>
                <a:latin typeface="Aptos"/>
              </a:rPr>
              <a:t>— </a:t>
            </a:r>
            <a:r>
              <a:rPr lang="it-IT" sz="2550" b="1" dirty="0">
                <a:solidFill>
                  <a:srgbClr val="11233D"/>
                </a:solidFill>
                <a:latin typeface="Aptos"/>
              </a:rPr>
              <a:t> Controllo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</a:t>
            </a:r>
            <a:r>
              <a:rPr sz="2550" b="1" dirty="0" err="1">
                <a:solidFill>
                  <a:srgbClr val="11233D"/>
                </a:solidFill>
                <a:latin typeface="Aptos"/>
              </a:rPr>
              <a:t>congiunto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per post e follower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3055" y="1184946"/>
            <a:ext cx="7214324" cy="4958080"/>
          </a:xfrm>
          <a:prstGeom prst="rect">
            <a:avLst/>
          </a:prstGeom>
          <a:noFill/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lide17_new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188720"/>
            <a:ext cx="6463937" cy="49458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42797" y="1241262"/>
            <a:ext cx="3026955" cy="232371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grafico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compara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 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cofrontando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ogni bucket di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esposizione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rapporto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tra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 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br>
              <a:rPr lang="en-US" sz="1450" dirty="0">
                <a:solidFill>
                  <a:srgbClr val="09192A"/>
                </a:solidFill>
                <a:ea typeface="+mn-lt"/>
                <a:cs typeface="+mn-lt"/>
              </a:rPr>
            </a:b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colore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intenso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maggiore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significativo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studiato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spcAft>
                <a:spcPts val="0"/>
              </a:spcAft>
            </a:pP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La zona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fo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rte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bucket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bassi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intermedi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soprattutto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account con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post ma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qualche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follow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ricevuto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579729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880">
                <a:solidFill>
                  <a:srgbClr val="1F2937"/>
                </a:solidFill>
                <a:latin typeface="Aptos"/>
              </a:rPr>
              <a:t>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96604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4958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4 — Quando emerge il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segnale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dei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blocchi</a:t>
            </a:r>
            <a:r>
              <a:rPr lang="en-US" sz="280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>
              <a:solidFill>
                <a:srgbClr val="09192A"/>
              </a:solidFill>
              <a:latin typeface="Aptos"/>
              <a:ea typeface="Aptos Display" pitchFamily="34" charset="-122"/>
              <a:cs typeface="Aptos Display" pitchFamily="34" charset="-120"/>
            </a:endParaRPr>
          </a:p>
          <a:p>
            <a:pPr>
              <a:defRPr>
                <a:solidFill>
                  <a:srgbClr val="09192A"/>
                </a:solidFill>
                <a:latin typeface="Aptos"/>
              </a:defRPr>
            </a:pPr>
            <a:endParaRPr lang="en-US" sz="2800" b="1" dirty="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49963"/>
            <a:ext cx="10750877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77948" y="918611"/>
            <a:ext cx="11629571" cy="4189547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09_out0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37" y="1378217"/>
            <a:ext cx="11614767" cy="3263075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1005840" y="5257800"/>
            <a:ext cx="10058400" cy="1264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grafico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mostra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la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dinamica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10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prima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dell’evento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−1 è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più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vicino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al takedown. Nei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la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probabilità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e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numero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medio di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restano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quasi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piatti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;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invece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aumentano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rapidamente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negli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ultimi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2–3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 La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parte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centrale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conferma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oltre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metà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del volume di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blocchi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dei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cade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nell’ultimo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: il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segnale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è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quindi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anticipatorio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ma molto </a:t>
            </a:r>
            <a:r>
              <a:rPr lang="en-US" sz="14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ravvicinato</a:t>
            </a:r>
            <a:r>
              <a:rPr lang="en-US" sz="14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 dirty="0"/>
          </a:p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endParaRPr lang="en-US" sz="1450" b="1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75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 5 — il segnale cambia per </a:t>
            </a:r>
            <a:r>
              <a:rPr lang="en-US" sz="2750" b="1" dirty="0" err="1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tipo</a:t>
            </a:r>
            <a:r>
              <a:rPr lang="en-US" sz="2750" b="1" dirty="0">
                <a:solidFill>
                  <a:srgbClr val="11233D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di account?</a:t>
            </a:r>
            <a:endParaRPr lang="en-US" sz="2750" dirty="0"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17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451395" y="836604"/>
            <a:ext cx="11159308" cy="4799874"/>
          </a:xfrm>
          <a:prstGeom prst="rect">
            <a:avLst/>
          </a:prstGeom>
          <a:solidFill>
            <a:srgbClr val="FFFFFF"/>
          </a:solidFill>
          <a:ln w="6985">
            <a:solidFill>
              <a:srgbClr val="C9E0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0" descr="/mnt/data/notebook_figures/blocks_signal_v3_cell11_out03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761" y="854892"/>
            <a:ext cx="7346459" cy="4785069"/>
          </a:xfrm>
          <a:prstGeom prst="rect">
            <a:avLst/>
          </a:prstGeom>
          <a:ln w="7620">
            <a:solidFill>
              <a:srgbClr val="C9E0EE"/>
            </a:solidFill>
          </a:ln>
        </p:spPr>
      </p:pic>
      <p:sp>
        <p:nvSpPr>
          <p:cNvPr id="10" name="Text 7"/>
          <p:cNvSpPr/>
          <p:nvPr/>
        </p:nvSpPr>
        <p:spPr>
          <a:xfrm>
            <a:off x="914400" y="5925312"/>
            <a:ext cx="10378440" cy="659819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algn="ctr">
              <a:spcAft>
                <a:spcPts val="0"/>
              </a:spcAft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Dopo aver visto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segnale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accelera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vicino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al takedown, qui lo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separiamo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per corner. Il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risultato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conferma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che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il corner 00 è quasi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piatto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,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mentre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gruppi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0p, p0 e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soprattutto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pp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positivi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si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distinguono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dai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negativi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negli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ultimi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</a:t>
            </a:r>
            <a:r>
              <a:rPr lang="en-US" sz="135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giorni</a:t>
            </a:r>
            <a:r>
              <a:rPr lang="en-US" sz="135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.</a:t>
            </a:r>
            <a:endParaRPr lang="it-IT" dirty="0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820539" cy="43858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550" b="1" dirty="0" err="1">
                <a:solidFill>
                  <a:srgbClr val="1F2937"/>
                </a:solidFill>
                <a:latin typeface="Aptos"/>
              </a:rPr>
              <a:t>Risultato</a:t>
            </a:r>
            <a:r>
              <a:rPr lang="it-IT" sz="2550" b="1" dirty="0">
                <a:solidFill>
                  <a:srgbClr val="1F2937"/>
                </a:solidFill>
                <a:latin typeface="Aptos"/>
              </a:rPr>
              <a:t> 6.1</a:t>
            </a:r>
            <a:r>
              <a:rPr sz="2550" b="1" dirty="0">
                <a:solidFill>
                  <a:srgbClr val="1F2937"/>
                </a:solidFill>
                <a:latin typeface="Aptos"/>
              </a:rPr>
              <a:t> — analisi </a:t>
            </a:r>
            <a:r>
              <a:rPr sz="2550" b="1" dirty="0" err="1">
                <a:solidFill>
                  <a:srgbClr val="1F2937"/>
                </a:solidFill>
                <a:latin typeface="Aptos"/>
              </a:rPr>
              <a:t>predittiva</a:t>
            </a:r>
            <a:r>
              <a:rPr sz="2550" b="1" dirty="0">
                <a:solidFill>
                  <a:srgbClr val="1F2937"/>
                </a:solidFill>
                <a:latin typeface="Aptos"/>
              </a:rPr>
              <a:t> con Random Forest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543" y="1041255"/>
            <a:ext cx="10835640" cy="9418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1233D"/>
                </a:solidFill>
                <a:latin typeface="Aptos"/>
              </a:rPr>
              <a:t>Obiettivo dell’esperimento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70" b="1">
                <a:solidFill>
                  <a:srgbClr val="11233D"/>
                </a:solidFill>
                <a:latin typeface="Aptos"/>
              </a:rPr>
              <a:t>Passare dal confronto descrittivo alla classificazione: usare solo segnali osservati prima di T per capire se un account assomiglia più a un positivo (!takedown) o a un negativo comparabile.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505456"/>
            <a:ext cx="2880360" cy="1225296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ctr">
              <a:spcAft>
                <a:spcPts val="0"/>
              </a:spcAft>
            </a:pPr>
            <a:r>
              <a:rPr sz="1480" b="1">
                <a:solidFill>
                  <a:srgbClr val="1F2937"/>
                </a:solidFill>
                <a:latin typeface="Aptos"/>
              </a:rPr>
              <a:t>1 · Dataset account-evento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10">
                <a:solidFill>
                  <a:srgbClr val="1F2937"/>
                </a:solidFill>
                <a:latin typeface="Aptos"/>
              </a:rPr>
              <a:t>Una riga = un account osservato rispetto a un evento T o pseudo-evento.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505456"/>
            <a:ext cx="2880360" cy="1225296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ctr">
              <a:spcAft>
                <a:spcPts val="0"/>
              </a:spcAft>
            </a:pPr>
            <a:r>
              <a:rPr sz="1480" b="1">
                <a:solidFill>
                  <a:srgbClr val="1F2937"/>
                </a:solidFill>
                <a:latin typeface="Aptos"/>
              </a:rPr>
              <a:t>2 · Feature pre-evento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10">
                <a:solidFill>
                  <a:srgbClr val="1F2937"/>
                </a:solidFill>
                <a:latin typeface="Aptos"/>
              </a:rPr>
              <a:t>Conteggi dei blocchi nei 10 giorni precedenti: totali, unique blockers e profilo giornaliero.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22208" y="2505456"/>
            <a:ext cx="2880360" cy="1225296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ctr">
              <a:spcAft>
                <a:spcPts val="0"/>
              </a:spcAft>
            </a:pPr>
            <a:r>
              <a:rPr sz="1480" b="1">
                <a:solidFill>
                  <a:srgbClr val="1F2937"/>
                </a:solidFill>
                <a:latin typeface="Aptos"/>
              </a:rPr>
              <a:t>3 · Random Forest</a:t>
            </a:r>
          </a:p>
          <a:p>
            <a:pPr algn="ctr">
              <a:spcBef>
                <a:spcPts val="400"/>
              </a:spcBef>
              <a:spcAft>
                <a:spcPts val="0"/>
              </a:spcAft>
            </a:pPr>
            <a:r>
              <a:rPr sz="1210">
                <a:solidFill>
                  <a:srgbClr val="1F2937"/>
                </a:solidFill>
                <a:latin typeface="Aptos"/>
              </a:rPr>
              <a:t>Il modello combina molti alberi decisionali e “vota” la classe finale: positivo o negativo.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3063240"/>
            <a:ext cx="758952" cy="0"/>
          </a:xfrm>
          <a:prstGeom prst="line">
            <a:avLst/>
          </a:prstGeom>
          <a:ln w="17780">
            <a:solidFill>
              <a:srgbClr val="189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35240" y="3063240"/>
            <a:ext cx="758952" cy="0"/>
          </a:xfrm>
          <a:prstGeom prst="line">
            <a:avLst/>
          </a:prstGeom>
          <a:ln w="17780">
            <a:solidFill>
              <a:srgbClr val="1895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4114800"/>
            <a:ext cx="5120640" cy="11338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Controllo metodologico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40">
                <a:solidFill>
                  <a:srgbClr val="1F2937"/>
                </a:solidFill>
                <a:latin typeface="Aptos"/>
              </a:rPr>
              <a:t>Le variabili entrano nel modello solo se osservate prima dell’evento. In questo modo non si usa informazione successiva al takedown.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02352" cy="11338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Perché più pool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40">
                <a:solidFill>
                  <a:srgbClr val="1F2937"/>
                </a:solidFill>
                <a:latin typeface="Aptos"/>
              </a:rPr>
              <a:t>La stessa idea viene provata su campioni bilanciati diversi: pool completo, pool senza corner 00 e gruppi 0p / p0 / pp.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62049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7289496" cy="43858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550" b="1">
                <a:solidFill>
                  <a:srgbClr val="11233D"/>
                </a:solidFill>
                <a:latin typeface="Aptos"/>
              </a:rPr>
              <a:t>Risultato</a:t>
            </a:r>
            <a:r>
              <a:rPr lang="it-IT" sz="2550" b="1">
                <a:solidFill>
                  <a:srgbClr val="11233D"/>
                </a:solidFill>
                <a:latin typeface="Aptos"/>
              </a:rPr>
              <a:t> 6.2</a:t>
            </a:r>
            <a:r>
              <a:rPr sz="2550" b="1" dirty="0">
                <a:solidFill>
                  <a:srgbClr val="11233D"/>
                </a:solidFill>
                <a:latin typeface="Aptos"/>
              </a:rPr>
              <a:t> — come è costruito il test </a:t>
            </a:r>
            <a:r>
              <a:rPr sz="2550" b="1" err="1">
                <a:solidFill>
                  <a:srgbClr val="11233D"/>
                </a:solidFill>
                <a:latin typeface="Aptos"/>
              </a:rPr>
              <a:t>predittivo</a:t>
            </a:r>
            <a:endParaRPr lang="it-IT" sz="2550" b="1" err="1">
              <a:solidFill>
                <a:srgbClr val="09192A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4828032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72768"/>
            <a:ext cx="411480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650" b="1">
                <a:solidFill>
                  <a:srgbClr val="1F2937"/>
                </a:solidFill>
                <a:latin typeface="Aptos"/>
              </a:rPr>
              <a:t>Procedura usata nel notebook</a:t>
            </a:r>
          </a:p>
        </p:txBody>
      </p:sp>
      <p:sp>
        <p:nvSpPr>
          <p:cNvPr id="7" name="Oval 6"/>
          <p:cNvSpPr/>
          <p:nvPr/>
        </p:nvSpPr>
        <p:spPr>
          <a:xfrm>
            <a:off x="941832" y="2084831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2057400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Pool bilanciato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Stesso numero di positivi e negativi: il modello non può “vincere” scegliendo sempre la classe più frequente.</a:t>
            </a:r>
          </a:p>
        </p:txBody>
      </p:sp>
      <p:sp>
        <p:nvSpPr>
          <p:cNvPr id="9" name="Oval 8"/>
          <p:cNvSpPr/>
          <p:nvPr/>
        </p:nvSpPr>
        <p:spPr>
          <a:xfrm>
            <a:off x="941832" y="2871215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843784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Split 70/30 stratificato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Il dataset viene diviso in training e test mantenendo la proporzione tra positivi e negativi.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" y="3657600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630168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Cross-validation sul training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Sul training viene applicata StratifiedKFold: 5 fold nelle prove iniziali, 10 fold nell’analisi principale.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4443983"/>
            <a:ext cx="320040" cy="320040"/>
          </a:xfrm>
          <a:prstGeom prst="ellipse">
            <a:avLst/>
          </a:prstGeom>
          <a:solidFill>
            <a:srgbClr val="1895D1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2937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4416551"/>
            <a:ext cx="37490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20" b="1">
                <a:solidFill>
                  <a:srgbClr val="1F2937"/>
                </a:solidFill>
                <a:latin typeface="Aptos"/>
              </a:rPr>
              <a:t>Metriche out-of-fold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070">
                <a:solidFill>
                  <a:srgbClr val="1F2937"/>
                </a:solidFill>
                <a:latin typeface="Aptos"/>
              </a:rPr>
              <a:t>Le predizioni di CV producono Accuracy, Precision, Recall, F1, ROC AUC e matrice di confusione.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1325880"/>
            <a:ext cx="5257800" cy="1298448"/>
          </a:xfrm>
          <a:prstGeom prst="roundRect">
            <a:avLst/>
          </a:prstGeom>
          <a:solidFill>
            <a:srgbClr val="E2F1F9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937"/>
                </a:solidFill>
                <a:latin typeface="Aptos"/>
              </a:rPr>
              <a:t>Che cosa impara la Random Forest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20">
                <a:solidFill>
                  <a:srgbClr val="1F2937"/>
                </a:solidFill>
                <a:latin typeface="Aptos"/>
              </a:rPr>
              <a:t>Non legge testo o profili: usa solo numeri sui blocchi ricevuti prima di T. Se pattern simili compaiono più spesso nei positivi, il modello li usa per classificare nuovi casi.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2880360"/>
            <a:ext cx="5257800" cy="11155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937"/>
                </a:solidFill>
                <a:latin typeface="Aptos"/>
              </a:rPr>
              <a:t>Che cosa viene confrontato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20">
                <a:solidFill>
                  <a:srgbClr val="1F2937"/>
                </a:solidFill>
                <a:latin typeface="Aptos"/>
              </a:rPr>
              <a:t>Prestazioni globali e prestazioni per macro-gruppo. Questo serve a verificare se il segnale funziona davvero nei gruppi esposti e se il corner 00 distorce il modello.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4251960"/>
            <a:ext cx="5257800" cy="1115568"/>
          </a:xfrm>
          <a:prstGeom prst="roundRect">
            <a:avLst/>
          </a:prstGeom>
          <a:solidFill>
            <a:srgbClr val="E5F4EB"/>
          </a:solidFill>
          <a:ln w="9525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t"/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937"/>
                </a:solidFill>
                <a:latin typeface="Aptos"/>
              </a:rPr>
              <a:t>Cosa produce l’esperimento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20">
                <a:solidFill>
                  <a:srgbClr val="1F2937"/>
                </a:solidFill>
                <a:latin typeface="Aptos"/>
              </a:rPr>
              <a:t>Non una spiegazione causale, ma una misura predittiva: quanto i blocchi pre-evento separano account poi rimossi e account non rimossi.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0203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B9BD7"/>
          </a:solidFill>
          <a:ln w="12700">
            <a:solidFill>
              <a:srgbClr val="1B9B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064240" cy="56692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>
              <a:buNone/>
            </a:pPr>
            <a:r>
              <a:rPr lang="en-US" sz="2550" b="1" dirty="0">
                <a:solidFill>
                  <a:srgbClr val="11233D"/>
                </a:solidFill>
                <a:latin typeface="Aptos" pitchFamily="34" charset="0"/>
                <a:ea typeface="Aptos Display" pitchFamily="34" charset="-122"/>
                <a:cs typeface="Aptos Display" pitchFamily="34" charset="-120"/>
              </a:rPr>
              <a:t>Risultato 6.3 — setup testati nella Random Forest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228600" y="1170432"/>
            <a:ext cx="621792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0392" y="1170432"/>
            <a:ext cx="1600200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450592" y="1170432"/>
            <a:ext cx="2103120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Bilanciamento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53712" y="1170432"/>
            <a:ext cx="2148840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Corner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02552" y="1170432"/>
            <a:ext cx="804672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F1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07224" y="1170432"/>
            <a:ext cx="4471416" cy="530352"/>
          </a:xfrm>
          <a:prstGeom prst="rect">
            <a:avLst/>
          </a:prstGeom>
          <a:solidFill>
            <a:srgbClr val="E6F4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Lettura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" y="1700784"/>
            <a:ext cx="6217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50392" y="1700784"/>
            <a:ext cx="16002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1.000+1.000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450592" y="1700784"/>
            <a:ext cx="2103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corner proporzionali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553712" y="1700784"/>
            <a:ext cx="2148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 incluso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6702552" y="1700784"/>
            <a:ext cx="8046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0,382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7507224" y="1700784"/>
            <a:ext cx="447141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campione piccolo: precision alta, recall bassa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228600" y="2377440"/>
            <a:ext cx="62179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850392" y="2377440"/>
            <a:ext cx="160020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~10.000+10.000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2450592" y="2377440"/>
            <a:ext cx="210312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proporzionale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4553712" y="2377440"/>
            <a:ext cx="214884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 incluso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6702552" y="2377440"/>
            <a:ext cx="80467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0,377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7507224" y="2377440"/>
            <a:ext cx="4471416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aumentare N non risolve se resta 00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228600" y="3054096"/>
            <a:ext cx="62179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850392" y="3054096"/>
            <a:ext cx="160020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~10.000+10.000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2450592" y="3054096"/>
            <a:ext cx="210312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proporzionale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4553712" y="3054096"/>
            <a:ext cx="2148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00 / bucket adiacenti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702552" y="3054096"/>
            <a:ext cx="80467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0,728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507224" y="3054096"/>
            <a:ext cx="4471416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salto netto: il segnale blocchi emerge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228600" y="3730752"/>
            <a:ext cx="62179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850392" y="3730752"/>
            <a:ext cx="160020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10.000+10.000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2450592" y="3730752"/>
            <a:ext cx="210312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corner bilanciati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4553712" y="3730752"/>
            <a:ext cx="2148840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00, 0p, p0, pp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6702552" y="3730752"/>
            <a:ext cx="804672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0,563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7507224" y="3730752"/>
            <a:ext cx="4471416" cy="676656"/>
          </a:xfrm>
          <a:prstGeom prst="rect">
            <a:avLst/>
          </a:prstGeom>
          <a:solidFill>
            <a:srgbClr val="F5F8FB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tra gruppo 00 debole e gruppi esposti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228600" y="4407408"/>
            <a:ext cx="62179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850392" y="4407408"/>
            <a:ext cx="1600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28.650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2450592" y="4407408"/>
            <a:ext cx="2103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corner bilanciati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4553712" y="4407408"/>
            <a:ext cx="21488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00: 0p, p0, pp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6702552" y="4407408"/>
            <a:ext cx="8046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0,688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7507224" y="4407408"/>
            <a:ext cx="4471416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principale: massima scala, gruppi comparabili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594360" y="5413248"/>
            <a:ext cx="3337560" cy="841248"/>
          </a:xfrm>
          <a:prstGeom prst="roundRect">
            <a:avLst/>
          </a:prstGeom>
          <a:solidFill>
            <a:srgbClr val="E6F4FB"/>
          </a:solidFill>
          <a:ln w="9525">
            <a:solidFill>
              <a:srgbClr val="E6F4FB">
                <a:alpha val="0"/>
              </a:srgbClr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1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 F1 = media dell’F1 nella cross-validation: unisce precision e recall e riduce la dipendenza da un solo split.</a:t>
            </a:r>
            <a:endParaRPr lang="en-US" sz="1160" dirty="0"/>
          </a:p>
        </p:txBody>
      </p:sp>
      <p:sp>
        <p:nvSpPr>
          <p:cNvPr id="41" name="Text 39"/>
          <p:cNvSpPr/>
          <p:nvPr/>
        </p:nvSpPr>
        <p:spPr>
          <a:xfrm>
            <a:off x="4251960" y="5285232"/>
            <a:ext cx="745236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D8E5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Lettura del confronto
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performance cambia soprattutto con la costruzione del campione: quando il corner 00 resta dentro, il segnale dei blocchi viene attenuato; quando viene escluso, emerge il salto più netto.</a:t>
            </a:r>
            <a:endParaRPr lang="en-US" sz="1500" dirty="0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51499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966960" cy="4370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600" b="1" err="1">
                <a:solidFill>
                  <a:srgbClr val="11233D"/>
                </a:solidFill>
                <a:latin typeface="Aptos"/>
              </a:rPr>
              <a:t>Risultato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lang="it-IT" sz="2600" b="1">
                <a:solidFill>
                  <a:srgbClr val="11233D"/>
                </a:solidFill>
                <a:latin typeface="Aptos"/>
              </a:rPr>
              <a:t>7.1 </a:t>
            </a:r>
            <a:r>
              <a:rPr sz="2600" b="1">
                <a:solidFill>
                  <a:srgbClr val="11233D"/>
                </a:solidFill>
                <a:latin typeface="Aptos"/>
              </a:rPr>
              <a:t>—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analisi</a:t>
            </a:r>
            <a:r>
              <a:rPr sz="2600" b="1">
                <a:solidFill>
                  <a:srgbClr val="11233D"/>
                </a:solidFill>
                <a:latin typeface="Aptos"/>
              </a:rPr>
              <a:t>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principale</a:t>
            </a:r>
            <a:r>
              <a:rPr sz="2600" b="1">
                <a:solidFill>
                  <a:srgbClr val="11233D"/>
                </a:solidFill>
                <a:latin typeface="Aptos"/>
              </a:rPr>
              <a:t>: setup e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metriche</a:t>
            </a:r>
            <a:r>
              <a:rPr sz="2600" b="1">
                <a:solidFill>
                  <a:srgbClr val="11233D"/>
                </a:solidFill>
                <a:latin typeface="Aptos"/>
              </a:rPr>
              <a:t>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globali</a:t>
            </a:r>
            <a:endParaRPr lang="it-IT" sz="2600" b="1" err="1">
              <a:solidFill>
                <a:srgbClr val="09192A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43000"/>
            <a:ext cx="347472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325880"/>
            <a:ext cx="1143000" cy="320040"/>
          </a:xfrm>
          <a:prstGeom prst="roundRect">
            <a:avLst/>
          </a:prstGeom>
          <a:solidFill>
            <a:srgbClr val="E8F5FC"/>
          </a:solidFill>
          <a:ln w="9525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37360"/>
            <a:ext cx="2971800" cy="192024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1F2937"/>
                </a:solidFill>
                <a:latin typeface="Aptos"/>
              </a:rPr>
              <a:t>• Dataset totale: 28.650 osservazioni
• Target: positivo = account con !takedown; negativo = controllo senza takedown
• Corner: 00 escluso; 0p, p0, pp bilanciati
• Feature usate: unique blockers totali e giornalieri nella finestra 10d
• Modello: Random Forest, 1.000 alberi, min_samples_leaf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3886200"/>
            <a:ext cx="1463040" cy="320040"/>
          </a:xfrm>
          <a:prstGeom prst="roundRect">
            <a:avLst/>
          </a:prstGeom>
          <a:solidFill>
            <a:srgbClr val="E8F5FC"/>
          </a:solidFill>
          <a:ln w="9525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27432" rIns="36576" bIns="27432" rtlCol="0" anchor="ctr"/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VALIDAZIONE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79392"/>
            <a:ext cx="2971800" cy="106070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140" b="0">
                <a:solidFill>
                  <a:srgbClr val="1F2937"/>
                </a:solidFill>
                <a:latin typeface="Aptos"/>
              </a:rPr>
              <a:t>Split 70/30: il 70% va nel training, il 30% resta test. Sul training applico StratifiedKFold 10-fold: il modello viene riaddestrato su 10 divisioni diverse mantenendo bilanciate le classi. Le metriche riportate sono cross-validated sul training.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34440"/>
            <a:ext cx="1051560" cy="804672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34416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CV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62763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0,688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234440"/>
            <a:ext cx="105156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59" y="134416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59" y="162763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0,739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234440"/>
            <a:ext cx="105156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134416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2763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0,853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286000"/>
            <a:ext cx="105156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239572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67919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0,576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77840" y="2286000"/>
            <a:ext cx="1051560" cy="804672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23559" y="2395728"/>
            <a:ext cx="960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2937"/>
                </a:solidFill>
                <a:latin typeface="Aptos"/>
              </a:rPr>
              <a:t>ROC AUC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59" y="2679192"/>
            <a:ext cx="960120" cy="27432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F2937"/>
                </a:solidFill>
                <a:latin typeface="Aptos"/>
              </a:rPr>
              <a:t>0,760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520440"/>
            <a:ext cx="3611880" cy="1691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703320"/>
            <a:ext cx="315468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2937"/>
                </a:solidFill>
                <a:latin typeface="Aptos"/>
              </a:rPr>
              <a:t>Confusion matrix cross-validated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645152" y="4069080"/>
          <a:ext cx="3017518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5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233D"/>
                          </a:solidFill>
                          <a:latin typeface="Aptos"/>
                        </a:rPr>
                        <a:t>Pred. neg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1233D"/>
                          </a:solidFill>
                          <a:latin typeface="Aptos"/>
                        </a:rPr>
                        <a:t>Pred. pos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Vero neg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9035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992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Vero pos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4252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F2937"/>
                          </a:solidFill>
                          <a:latin typeface="Aptos"/>
                        </a:rPr>
                        <a:t>5776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321040" y="1234440"/>
            <a:ext cx="2788920" cy="3977639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58784" y="1481328"/>
            <a:ext cx="2304288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Come leggere il risultato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1920240"/>
            <a:ext cx="2331720" cy="26974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220" b="0">
                <a:solidFill>
                  <a:srgbClr val="1F2937"/>
                </a:solidFill>
                <a:latin typeface="Aptos"/>
              </a:rPr>
              <a:t>Precision alta (0,853): quando la RF classifica un account come positivo, spesso è davvero un account che riceverà takedown.
Recall moderata (0,576): una parte dei positivi non viene intercettata perché non accumula abbastanza blocchi visibili.
AUC 0,760: il modello separa le due classi meglio del caso, ma non in modo completo.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8760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6510528"/>
            <a:ext cx="29260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700">
                <a:solidFill>
                  <a:srgbClr val="1F2937"/>
                </a:solidFill>
                <a:latin typeface="Aptos"/>
              </a:rPr>
              <a:t>Bluesky / ATProto moderation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0"/>
              </a:spcAft>
            </a:pPr>
            <a:r>
              <a:rPr sz="700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966960" cy="4370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600" b="1" err="1">
                <a:solidFill>
                  <a:srgbClr val="11233D"/>
                </a:solidFill>
                <a:latin typeface="Aptos"/>
              </a:rPr>
              <a:t>Risultato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lang="it-IT" sz="2600" b="1">
                <a:solidFill>
                  <a:srgbClr val="11233D"/>
                </a:solidFill>
                <a:latin typeface="Aptos"/>
              </a:rPr>
              <a:t>7.2 </a:t>
            </a:r>
            <a:r>
              <a:rPr sz="2600" b="1">
                <a:solidFill>
                  <a:srgbClr val="11233D"/>
                </a:solidFill>
                <a:latin typeface="Aptos"/>
              </a:rPr>
              <a:t>— performance per corner </a:t>
            </a:r>
            <a:r>
              <a:rPr sz="2600" b="1" err="1">
                <a:solidFill>
                  <a:srgbClr val="11233D"/>
                </a:solidFill>
                <a:latin typeface="Aptos"/>
              </a:rPr>
              <a:t>esposto</a:t>
            </a:r>
            <a:endParaRPr lang="it-IT" sz="2600" b="1" err="1">
              <a:solidFill>
                <a:srgbClr val="09192A"/>
              </a:solidFill>
              <a:latin typeface="Aptos"/>
            </a:endParaRPr>
          </a:p>
        </p:txBody>
      </p:sp>
      <p:pic>
        <p:nvPicPr>
          <p:cNvPr id="7" name="Picture 6" descr="group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480560" cy="25146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4069080"/>
          <a:ext cx="562355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8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7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35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Gruppo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N train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Accuracy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ROC AUC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F1 positivi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Precision pos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11233D"/>
                          </a:solidFill>
                          <a:latin typeface="Aptos"/>
                        </a:rPr>
                        <a:t>Recall pos</a:t>
                      </a:r>
                    </a:p>
                  </a:txBody>
                  <a:tcPr marL="45720" marR="45720" marT="27432" marB="27432"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6.656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0,721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0,726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0,630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0,923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0,479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p0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6.768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0,738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0,748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0,660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0,927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0,512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pp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6.631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0,757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0,819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0,754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0,773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>
                          <a:solidFill>
                            <a:srgbClr val="1F2937"/>
                          </a:solidFill>
                          <a:latin typeface="Aptos"/>
                        </a:rPr>
                        <a:t>0,736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720840" y="1234440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67728" y="1444752"/>
            <a:ext cx="3977639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50" b="1">
                <a:solidFill>
                  <a:srgbClr val="1F2937"/>
                </a:solidFill>
                <a:latin typeface="Aptos"/>
              </a:rPr>
              <a:t>Il gruppo pp è il più classificabile: AUC 0,819 e F1 positivi 0,754. Qui l’account ha sia post sia follower, quindi può accumulare blocchi osservabili.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51760"/>
            <a:ext cx="44348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871216"/>
            <a:ext cx="3977639" cy="676656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Nei gruppi 0p e p0 il modello mantiene precision molto alta sui positivi, ma recall più bassa: segnala meno account, però quando segnala tende ad avere ragione.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069080"/>
            <a:ext cx="4434840" cy="1234440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4279392"/>
            <a:ext cx="3977639" cy="749808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F2937"/>
                </a:solidFill>
                <a:latin typeface="Aptos"/>
              </a:rPr>
              <a:t>Conclusione: escluso il 00, il segnale blocchi è informativo in tutti i gruppi, ma cresce con l’esposizione pubblica dell’account.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04772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95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237744"/>
            <a:ext cx="9966960" cy="437043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r>
              <a:rPr sz="2600" b="1" dirty="0" err="1">
                <a:solidFill>
                  <a:srgbClr val="11233D"/>
                </a:solidFill>
                <a:latin typeface="Aptos"/>
              </a:rPr>
              <a:t>Risultato</a:t>
            </a:r>
            <a:r>
              <a:rPr lang="it-IT" sz="2600" b="1" dirty="0">
                <a:solidFill>
                  <a:srgbClr val="11233D"/>
                </a:solidFill>
                <a:latin typeface="Aptos"/>
              </a:rPr>
              <a:t> 7.3 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— </a:t>
            </a:r>
            <a:r>
              <a:rPr sz="2600" b="1" dirty="0" err="1">
                <a:solidFill>
                  <a:srgbClr val="11233D"/>
                </a:solidFill>
                <a:latin typeface="Aptos"/>
              </a:rPr>
              <a:t>quali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11233D"/>
                </a:solidFill>
                <a:latin typeface="Aptos"/>
              </a:rPr>
              <a:t>variabili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</a:t>
            </a:r>
            <a:r>
              <a:rPr sz="2600" b="1" dirty="0" err="1">
                <a:solidFill>
                  <a:srgbClr val="11233D"/>
                </a:solidFill>
                <a:latin typeface="Aptos"/>
              </a:rPr>
              <a:t>guidano</a:t>
            </a:r>
            <a:r>
              <a:rPr sz="2600" b="1" dirty="0">
                <a:solidFill>
                  <a:srgbClr val="11233D"/>
                </a:solidFill>
                <a:latin typeface="Aptos"/>
              </a:rPr>
              <a:t> la Random Forest?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170432"/>
            <a:ext cx="5715000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20840" y="1188720"/>
            <a:ext cx="43434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67728" y="1399032"/>
            <a:ext cx="388620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Aptos"/>
              </a:rPr>
              <a:t>Come è ottenuta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7728" y="1783080"/>
            <a:ext cx="3886200" cy="68580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140" b="0">
                <a:solidFill>
                  <a:srgbClr val="1F2937"/>
                </a:solidFill>
                <a:latin typeface="Aptos"/>
              </a:rPr>
              <a:t>Dopo il training, la Random Forest assegna a ogni feature un peso: quanto quella variabile contribuisce a separare positivi e negativi nelle split degli alberi. I pesi sono normalizzati a somma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788920"/>
            <a:ext cx="4343400" cy="1143000"/>
          </a:xfrm>
          <a:prstGeom prst="roundRect">
            <a:avLst/>
          </a:prstGeom>
          <a:solidFill>
            <a:srgbClr val="E8F5FC"/>
          </a:solidFill>
          <a:ln w="10160">
            <a:solidFill>
              <a:srgbClr val="E8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67728" y="2999232"/>
            <a:ext cx="3886200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50" b="1">
                <a:solidFill>
                  <a:srgbClr val="1F2937"/>
                </a:solidFill>
                <a:latin typeface="Aptos"/>
              </a:rPr>
              <a:t>La feature dominante è n_unique_blockers_day_0: i blockers unici nel giorno immediatamente precedente all’evento spiegano da soli circa il 44% dell’importanza.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160520"/>
            <a:ext cx="43434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4370832"/>
            <a:ext cx="3886200" cy="64008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1F2937"/>
                </a:solidFill>
                <a:latin typeface="Aptos"/>
              </a:rPr>
              <a:t>Interpretazione: non conta solo “avere tanti blocchi” nella finestra, ma la concentrazione ravvicinata del segnale. Il giorno −1 pesa molto più dei giorni lontani.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46646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F043C-6F9A-0F3B-485C-B02DB94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01C5F6B3-AB02-0BAE-C76F-296ADC3F2AAD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995D1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ACC2B8-B119-01E7-D5FC-C5218B955705}"/>
              </a:ext>
            </a:extLst>
          </p:cNvPr>
          <p:cNvSpPr/>
          <p:nvPr/>
        </p:nvSpPr>
        <p:spPr>
          <a:xfrm>
            <a:off x="566928" y="292608"/>
            <a:ext cx="9966960" cy="42062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>
              <a:defRPr>
                <a:solidFill>
                  <a:srgbClr val="09192A"/>
                </a:solidFill>
                <a:latin typeface="Aptos"/>
              </a:defRPr>
            </a:pP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Risultato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8 -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Altri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segnali</a:t>
            </a:r>
            <a:r>
              <a:rPr lang="en-US" sz="2750" b="1" dirty="0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: labels e </a:t>
            </a:r>
            <a:r>
              <a:rPr lang="en-US" sz="2750" b="1" dirty="0" err="1">
                <a:solidFill>
                  <a:srgbClr val="1F2937"/>
                </a:solidFill>
                <a:latin typeface="Aptos"/>
                <a:ea typeface="Aptos Display" pitchFamily="34" charset="-122"/>
                <a:cs typeface="Aptos Display" pitchFamily="34" charset="-120"/>
              </a:rPr>
              <a:t>modlist</a:t>
            </a:r>
            <a:endParaRPr lang="en-US" sz="2750" dirty="0" err="1">
              <a:latin typeface="Apto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EB4A005-F93D-921A-2676-AD080039FE50}"/>
              </a:ext>
            </a:extLst>
          </p:cNvPr>
          <p:cNvSpPr/>
          <p:nvPr/>
        </p:nvSpPr>
        <p:spPr>
          <a:xfrm>
            <a:off x="566928" y="786384"/>
            <a:ext cx="992124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30" b="1">
                <a:solidFill>
                  <a:srgbClr val="11233D"/>
                </a:solidFill>
                <a:latin typeface="Aptos"/>
              </a:rPr>
              <a:t>Lift talvolta alto, ma copertura troppo bassa per uso predittivo sistematico</a:t>
            </a:r>
            <a:endParaRPr lang="en-US" sz="113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E69FBDF-5C64-463D-A0E3-325627FDF9DC}"/>
              </a:ext>
            </a:extLst>
          </p:cNvPr>
          <p:cNvSpPr/>
          <p:nvPr/>
        </p:nvSpPr>
        <p:spPr>
          <a:xfrm>
            <a:off x="566928" y="1078992"/>
            <a:ext cx="11018520" cy="0"/>
          </a:xfrm>
          <a:prstGeom prst="line">
            <a:avLst/>
          </a:prstGeom>
          <a:solidFill>
            <a:srgbClr val="C9E0EE"/>
          </a:solidFill>
          <a:ln w="889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1FE5F5-35D9-9F85-DFEB-C8FCE9C8E826}"/>
              </a:ext>
            </a:extLst>
          </p:cNvPr>
          <p:cNvSpPr/>
          <p:nvPr/>
        </p:nvSpPr>
        <p:spPr>
          <a:xfrm>
            <a:off x="11292840" y="6528816"/>
            <a:ext cx="3200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/>
          <a:lstStyle/>
          <a:p>
            <a:pPr marL="0" indent="0" algn="r">
              <a:spcAft>
                <a:spcPts val="0"/>
              </a:spcAft>
              <a:buNone/>
              <a:defRPr sz="620" b="0" i="0">
                <a:solidFill>
                  <a:srgbClr val="8091A3"/>
                </a:solidFill>
                <a:latin typeface="Aptos"/>
              </a:defRPr>
            </a:pPr>
            <a:r>
              <a:rPr lang="en-US" sz="700" b="0" i="0">
                <a:solidFill>
                  <a:srgbClr val="1F2937"/>
                </a:solidFill>
                <a:latin typeface="Aptos"/>
              </a:rPr>
              <a:t>22</a:t>
            </a:r>
            <a:endParaRPr lang="en-US" sz="88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6C2E35-01C5-05CA-735C-ABCBAFA36893}"/>
              </a:ext>
            </a:extLst>
          </p:cNvPr>
          <p:cNvSpPr/>
          <p:nvPr/>
        </p:nvSpPr>
        <p:spPr>
          <a:xfrm>
            <a:off x="868680" y="1417320"/>
            <a:ext cx="28346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Segnale</a:t>
            </a:r>
            <a:endParaRPr lang="en-US"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B4FF7F-92C2-F47D-5F30-9873C9B1047D}"/>
              </a:ext>
            </a:extLst>
          </p:cNvPr>
          <p:cNvSpPr/>
          <p:nvPr/>
        </p:nvSpPr>
        <p:spPr>
          <a:xfrm>
            <a:off x="3703320" y="141732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Coverage positivi</a:t>
            </a:r>
            <a:endParaRPr lang="en-US"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2B75D5-AB14-A669-59CD-F495C59033FA}"/>
              </a:ext>
            </a:extLst>
          </p:cNvPr>
          <p:cNvSpPr/>
          <p:nvPr/>
        </p:nvSpPr>
        <p:spPr>
          <a:xfrm>
            <a:off x="5349240" y="141732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/ nota</a:t>
            </a:r>
            <a:endParaRPr lang="en-US"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EE41CF1-E929-936D-1CA8-D36E1D05B189}"/>
              </a:ext>
            </a:extLst>
          </p:cNvPr>
          <p:cNvSpPr/>
          <p:nvPr/>
        </p:nvSpPr>
        <p:spPr>
          <a:xfrm>
            <a:off x="868680" y="1965960"/>
            <a:ext cx="28346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Labels ufficiali post-level</a:t>
            </a:r>
            <a:endParaRPr lang="en-US"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3E447E-C97A-B080-B943-C6140A1B3D56}"/>
              </a:ext>
            </a:extLst>
          </p:cNvPr>
          <p:cNvSpPr/>
          <p:nvPr/>
        </p:nvSpPr>
        <p:spPr>
          <a:xfrm>
            <a:off x="3703320" y="196596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2,34%</a:t>
            </a:r>
            <a:endParaRPr lang="en-US"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85978F4-2A3F-07C1-ABDF-8CDEE2642A5A}"/>
              </a:ext>
            </a:extLst>
          </p:cNvPr>
          <p:cNvSpPr/>
          <p:nvPr/>
        </p:nvSpPr>
        <p:spPr>
          <a:xfrm>
            <a:off x="5349240" y="196596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coverage bassa</a:t>
            </a:r>
            <a:endParaRPr lang="en-US"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2261901-AD54-6095-0B09-3DABFD70C35D}"/>
              </a:ext>
            </a:extLst>
          </p:cNvPr>
          <p:cNvSpPr/>
          <p:nvPr/>
        </p:nvSpPr>
        <p:spPr>
          <a:xfrm>
            <a:off x="868680" y="251460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Skywatch Blue account-level</a:t>
            </a:r>
            <a:endParaRPr lang="en-US"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738B1F5-122B-E267-1B75-49028E8BCD68}"/>
              </a:ext>
            </a:extLst>
          </p:cNvPr>
          <p:cNvSpPr/>
          <p:nvPr/>
        </p:nvSpPr>
        <p:spPr>
          <a:xfrm>
            <a:off x="3703320" y="251460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2,944%</a:t>
            </a:r>
            <a:endParaRPr lang="en-US"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2E3F7D4-308B-ACA4-483B-2716326B8CCA}"/>
              </a:ext>
            </a:extLst>
          </p:cNvPr>
          <p:cNvSpPr/>
          <p:nvPr/>
        </p:nvSpPr>
        <p:spPr>
          <a:xfrm>
            <a:off x="5349240" y="251460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4,24×</a:t>
            </a:r>
            <a:endParaRPr lang="en-US" sz="12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334EA6D-2C0D-B2AD-DB48-D813BB8F28C5}"/>
              </a:ext>
            </a:extLst>
          </p:cNvPr>
          <p:cNvSpPr/>
          <p:nvPr/>
        </p:nvSpPr>
        <p:spPr>
          <a:xfrm>
            <a:off x="868680" y="306324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Profile Labeller account-level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3431FE-4305-D874-26E7-25B507B183E4}"/>
              </a:ext>
            </a:extLst>
          </p:cNvPr>
          <p:cNvSpPr/>
          <p:nvPr/>
        </p:nvSpPr>
        <p:spPr>
          <a:xfrm>
            <a:off x="3703320" y="306324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1,913%</a:t>
            </a:r>
            <a:endParaRPr lang="en-US"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85775F-C7E4-D784-04F7-025FDE91FA3D}"/>
              </a:ext>
            </a:extLst>
          </p:cNvPr>
          <p:cNvSpPr/>
          <p:nvPr/>
        </p:nvSpPr>
        <p:spPr>
          <a:xfrm>
            <a:off x="5349240" y="306324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12,36×</a:t>
            </a:r>
            <a:endParaRPr lang="en-US"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227ED01-A22E-A1F8-1FE6-17B59AF984E9}"/>
              </a:ext>
            </a:extLst>
          </p:cNvPr>
          <p:cNvSpPr/>
          <p:nvPr/>
        </p:nvSpPr>
        <p:spPr>
          <a:xfrm>
            <a:off x="868680" y="361188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Blacksky Moderation account-level</a:t>
            </a:r>
            <a:endParaRPr lang="en-US" sz="12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8801683-07D0-2DD8-7E0F-D06DFEF8F10E}"/>
              </a:ext>
            </a:extLst>
          </p:cNvPr>
          <p:cNvSpPr/>
          <p:nvPr/>
        </p:nvSpPr>
        <p:spPr>
          <a:xfrm>
            <a:off x="3703320" y="361188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0,090%</a:t>
            </a:r>
            <a:endParaRPr lang="en-US" sz="12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C1EEF9C-E80F-7F6E-02BC-3BA2BD28E7CC}"/>
              </a:ext>
            </a:extLst>
          </p:cNvPr>
          <p:cNvSpPr/>
          <p:nvPr/>
        </p:nvSpPr>
        <p:spPr>
          <a:xfrm>
            <a:off x="5349240" y="361188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lift 14,27× ma quasi nullo</a:t>
            </a:r>
            <a:endParaRPr lang="en-US"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1C14D87-BDBE-F7CF-A545-14CCC40FF359}"/>
              </a:ext>
            </a:extLst>
          </p:cNvPr>
          <p:cNvSpPr/>
          <p:nvPr/>
        </p:nvSpPr>
        <p:spPr>
          <a:xfrm>
            <a:off x="868680" y="4160520"/>
            <a:ext cx="2834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Modlist</a:t>
            </a:r>
            <a:endParaRPr lang="en-US"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ED3A371-2EC5-3241-DB34-38F0E4E561AC}"/>
              </a:ext>
            </a:extLst>
          </p:cNvPr>
          <p:cNvSpPr/>
          <p:nvPr/>
        </p:nvSpPr>
        <p:spPr>
          <a:xfrm>
            <a:off x="3703320" y="4160520"/>
            <a:ext cx="164592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200">
                <a:solidFill>
                  <a:srgbClr val="1F2937"/>
                </a:solidFill>
                <a:latin typeface="Aptos"/>
              </a:rPr>
              <a:t>1,943%</a:t>
            </a:r>
            <a:endParaRPr lang="en-US" sz="12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8F13CC5-85AB-D8B7-267C-29102CA7F6F4}"/>
              </a:ext>
            </a:extLst>
          </p:cNvPr>
          <p:cNvSpPr/>
          <p:nvPr/>
        </p:nvSpPr>
        <p:spPr>
          <a:xfrm>
            <a:off x="5349240" y="4160520"/>
            <a:ext cx="1920240" cy="548640"/>
          </a:xfrm>
          <a:prstGeom prst="rect">
            <a:avLst/>
          </a:prstGeom>
          <a:solidFill>
            <a:srgbClr val="EFF7FC"/>
          </a:solidFill>
          <a:ln w="9525">
            <a:solidFill>
              <a:srgbClr val="C9E0EE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l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200" b="1">
                <a:solidFill>
                  <a:srgbClr val="1F2937"/>
                </a:solidFill>
                <a:latin typeface="Aptos"/>
              </a:rPr>
              <a:t>73 modlist coinvolte</a:t>
            </a:r>
            <a:endParaRPr lang="en-US"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3926221-5FE2-1A8D-7B2C-1DD35DD3560B}"/>
              </a:ext>
            </a:extLst>
          </p:cNvPr>
          <p:cNvSpPr/>
          <p:nvPr/>
        </p:nvSpPr>
        <p:spPr>
          <a:xfrm>
            <a:off x="867228" y="5101771"/>
            <a:ext cx="3474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E8F2"/>
            </a:solidFill>
          </a:ln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440" b="1">
                <a:solidFill>
                  <a:srgbClr val="1F2937"/>
                </a:solidFill>
                <a:latin typeface="Aptos"/>
              </a:rPr>
              <a:t>Conclusione comune: segnale potenzialmente informativo, ma troppo rarefatto per sostenere la predizione.</a:t>
            </a:r>
            <a:endParaRPr lang="en-US" sz="1440"/>
          </a:p>
        </p:txBody>
      </p:sp>
      <p:sp>
        <p:nvSpPr>
          <p:cNvPr id="28" name="Text 42">
            <a:extLst>
              <a:ext uri="{FF2B5EF4-FFF2-40B4-BE49-F238E27FC236}">
                <a16:creationId xmlns:a16="http://schemas.microsoft.com/office/drawing/2014/main" id="{57B1D229-D501-CC41-97E1-628BD61EE961}"/>
              </a:ext>
            </a:extLst>
          </p:cNvPr>
          <p:cNvSpPr/>
          <p:nvPr/>
        </p:nvSpPr>
        <p:spPr>
          <a:xfrm>
            <a:off x="8074152" y="1472184"/>
            <a:ext cx="2834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 b="1">
                <a:solidFill>
                  <a:srgbClr val="09192A"/>
                </a:solidFill>
                <a:latin typeface="Aptos"/>
              </a:defRPr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Fallimento operativo, non teorico</a:t>
            </a:r>
            <a:endParaRPr lang="en-US" sz="1150"/>
          </a:p>
        </p:txBody>
      </p:sp>
      <p:sp>
        <p:nvSpPr>
          <p:cNvPr id="30" name="Text 43">
            <a:extLst>
              <a:ext uri="{FF2B5EF4-FFF2-40B4-BE49-F238E27FC236}">
                <a16:creationId xmlns:a16="http://schemas.microsoft.com/office/drawing/2014/main" id="{212EAA3B-33F7-C371-E7CF-B7B0277BBFCF}"/>
              </a:ext>
            </a:extLst>
          </p:cNvPr>
          <p:cNvSpPr/>
          <p:nvPr/>
        </p:nvSpPr>
        <p:spPr>
          <a:xfrm>
            <a:off x="8074152" y="1801368"/>
            <a:ext cx="2834640" cy="74066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Alcuni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segnali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hanno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lift alto,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quindi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non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sono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“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inutili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”. Il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problema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è la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densità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compaiono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su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troppi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pochi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account per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sostenere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predizione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err="1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sistematica</a:t>
            </a:r>
            <a:r>
              <a:rPr lang="en-US" sz="900">
                <a:solidFill>
                  <a:srgbClr val="1F2937"/>
                </a:solidFill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900">
              <a:latin typeface="Aptos"/>
            </a:endParaRPr>
          </a:p>
        </p:txBody>
      </p:sp>
      <p:sp>
        <p:nvSpPr>
          <p:cNvPr id="31" name="Text 46">
            <a:extLst>
              <a:ext uri="{FF2B5EF4-FFF2-40B4-BE49-F238E27FC236}">
                <a16:creationId xmlns:a16="http://schemas.microsoft.com/office/drawing/2014/main" id="{E2C73A82-F2E2-8DBB-8592-968A4C29D681}"/>
              </a:ext>
            </a:extLst>
          </p:cNvPr>
          <p:cNvSpPr/>
          <p:nvPr/>
        </p:nvSpPr>
        <p:spPr>
          <a:xfrm>
            <a:off x="8088666" y="2636230"/>
            <a:ext cx="2834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Conseguenza</a:t>
            </a:r>
            <a:endParaRPr lang="en-US" sz="1150"/>
          </a:p>
        </p:txBody>
      </p:sp>
      <p:sp>
        <p:nvSpPr>
          <p:cNvPr id="32" name="Text 47">
            <a:extLst>
              <a:ext uri="{FF2B5EF4-FFF2-40B4-BE49-F238E27FC236}">
                <a16:creationId xmlns:a16="http://schemas.microsoft.com/office/drawing/2014/main" id="{5BE7271C-EF91-0C11-587E-DA058C1ACAA6}"/>
              </a:ext>
            </a:extLst>
          </p:cNvPr>
          <p:cNvSpPr/>
          <p:nvPr/>
        </p:nvSpPr>
        <p:spPr>
          <a:xfrm>
            <a:off x="8088666" y="2965414"/>
            <a:ext cx="2834640" cy="3749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93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Nel deck e nell’analisi predittiva principale labels e modlist restano risultati di contesto, non variabili centrali.</a:t>
            </a:r>
            <a:endParaRPr lang="en-US" sz="930"/>
          </a:p>
        </p:txBody>
      </p:sp>
      <p:sp>
        <p:nvSpPr>
          <p:cNvPr id="33" name="Text 50">
            <a:extLst>
              <a:ext uri="{FF2B5EF4-FFF2-40B4-BE49-F238E27FC236}">
                <a16:creationId xmlns:a16="http://schemas.microsoft.com/office/drawing/2014/main" id="{6289CAE6-3EF0-70B9-B8AA-C660E6A3C338}"/>
              </a:ext>
            </a:extLst>
          </p:cNvPr>
          <p:cNvSpPr/>
          <p:nvPr/>
        </p:nvSpPr>
        <p:spPr>
          <a:xfrm>
            <a:off x="8074152" y="3642796"/>
            <a:ext cx="2834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1150" b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Risultato negativo importante</a:t>
            </a:r>
            <a:endParaRPr lang="en-US" sz="1150"/>
          </a:p>
        </p:txBody>
      </p:sp>
      <p:sp>
        <p:nvSpPr>
          <p:cNvPr id="34" name="Text 51">
            <a:extLst>
              <a:ext uri="{FF2B5EF4-FFF2-40B4-BE49-F238E27FC236}">
                <a16:creationId xmlns:a16="http://schemas.microsoft.com/office/drawing/2014/main" id="{92A795D6-7A8C-80F2-B929-FBC0634F6306}"/>
              </a:ext>
            </a:extLst>
          </p:cNvPr>
          <p:cNvSpPr/>
          <p:nvPr/>
        </p:nvSpPr>
        <p:spPr>
          <a:xfrm>
            <a:off x="8074152" y="3971980"/>
            <a:ext cx="2834640" cy="46634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None/>
              <a:defRPr>
                <a:solidFill>
                  <a:srgbClr val="09192A"/>
                </a:solidFill>
                <a:latin typeface="Aptos"/>
              </a:defRPr>
            </a:pPr>
            <a:r>
              <a:rPr lang="en-US" sz="93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comunità reagisce soprattutto via blocchi individuali osservabili; le infrastrutture più aggregate sono troppo rarefatte nella finestra pre-takedown.</a:t>
            </a:r>
            <a:endParaRPr lang="en-US" sz="93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947199E6-FB5B-32D2-283C-5CE439C042D5}"/>
              </a:ext>
            </a:extLst>
          </p:cNvPr>
          <p:cNvSpPr txBox="1"/>
          <p:nvPr/>
        </p:nvSpPr>
        <p:spPr>
          <a:xfrm>
            <a:off x="5529943" y="5101771"/>
            <a:ext cx="6328228" cy="954107"/>
          </a:xfrm>
          <a:prstGeom prst="rect">
            <a:avLst/>
          </a:prstGeom>
          <a:noFill/>
          <a:ln w="9525"/>
        </p:spPr>
        <p:txBody>
          <a:bodyPr rot="0" spcFirstLastPara="0" vertOverflow="overflow" horzOverflow="overflow" vert="horz" wrap="square" lIns="36576" tIns="27432" rIns="36576" bIns="27432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 dirty="0">
                <a:solidFill>
                  <a:srgbClr val="1F2937"/>
                </a:solidFill>
                <a:latin typeface="Aptos"/>
              </a:rPr>
              <a:t>Coverage</a:t>
            </a:r>
            <a:r>
              <a:rPr lang="it-IT" sz="1400" dirty="0">
                <a:solidFill>
                  <a:srgbClr val="1F2937"/>
                </a:solidFill>
                <a:latin typeface="Aptos"/>
              </a:rPr>
              <a:t> = quanti positivi hanno quel segnale nella finestra </a:t>
            </a:r>
            <a:r>
              <a:rPr lang="it-IT" sz="1400" dirty="0" err="1">
                <a:solidFill>
                  <a:srgbClr val="1F2937"/>
                </a:solidFill>
                <a:latin typeface="Aptos"/>
              </a:rPr>
              <a:t>pre</a:t>
            </a:r>
            <a:r>
              <a:rPr lang="it-IT" sz="1400" dirty="0">
                <a:solidFill>
                  <a:srgbClr val="1F2937"/>
                </a:solidFill>
                <a:latin typeface="Aptos"/>
              </a:rPr>
              <a:t>-evento. </a:t>
            </a:r>
          </a:p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>
                <a:solidFill>
                  <a:srgbClr val="1F2937"/>
                </a:solidFill>
                <a:latin typeface="Aptos"/>
              </a:rPr>
              <a:t>Lift</a:t>
            </a:r>
            <a:r>
              <a:rPr lang="it-IT" sz="1400">
                <a:solidFill>
                  <a:srgbClr val="1F2937"/>
                </a:solidFill>
                <a:latin typeface="Aptos"/>
              </a:rPr>
              <a:t> = quanto il segnale è più frequente nei positivi rispetto ai negativi. </a:t>
            </a:r>
            <a:endParaRPr lang="it-IT" sz="1400" dirty="0"/>
          </a:p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>
                <a:solidFill>
                  <a:srgbClr val="1F2937"/>
                </a:solidFill>
                <a:latin typeface="Aptos"/>
              </a:rPr>
              <a:t>Lift &gt; 1</a:t>
            </a:r>
            <a:r>
              <a:rPr lang="it-IT" sz="1400">
                <a:solidFill>
                  <a:srgbClr val="1F2937"/>
                </a:solidFill>
                <a:latin typeface="Aptos"/>
              </a:rPr>
              <a:t> = segnale concentrato nei positivi. </a:t>
            </a:r>
            <a:endParaRPr lang="it-IT" sz="1400" dirty="0"/>
          </a:p>
          <a:p>
            <a:pPr>
              <a:spcAft>
                <a:spcPts val="0"/>
              </a:spcAft>
              <a:buFont typeface=""/>
              <a:buChar char="•"/>
            </a:pPr>
            <a:r>
              <a:rPr lang="it-IT" sz="1400" b="1">
                <a:solidFill>
                  <a:srgbClr val="1F2937"/>
                </a:solidFill>
                <a:latin typeface="Aptos"/>
              </a:rPr>
              <a:t>Problema</a:t>
            </a:r>
            <a:r>
              <a:rPr lang="it-IT" sz="1400">
                <a:solidFill>
                  <a:srgbClr val="1F2937"/>
                </a:solidFill>
                <a:latin typeface="Aptos"/>
              </a:rPr>
              <a:t>: lift alto ≠ segnale utile, se la coverage è troppo bassa.</a:t>
            </a:r>
            <a:endParaRPr lang="it-IT" sz="1400" dirty="0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533050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1233D"/>
                </a:solidFill>
                <a:latin typeface="Aptos"/>
              </a:rPr>
              <a:t>Conclusioni — risposta alla domanda di ricerca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7772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F2937"/>
                </a:solidFill>
                <a:latin typeface="Aptos"/>
              </a:rPr>
              <a:t>Sì, ma solo in modo parziale e condizionato.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039112"/>
            <a:ext cx="5166360" cy="9601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lnSpc>
                <a:spcPct val="107000"/>
              </a:lnSpc>
              <a:spcAft>
                <a:spcPts val="0"/>
              </a:spcAft>
            </a:pPr>
            <a:r>
              <a:rPr sz="1320" b="0" i="0">
                <a:solidFill>
                  <a:srgbClr val="1F2937"/>
                </a:solidFill>
                <a:latin typeface="Aptos"/>
              </a:rPr>
              <a:t>I segnali comunitari pubblici anticipano il takedown quando l’account è visibile alla comunità. Non spiegano, invece, i takedown rapidissimi degli account senza esposizione pubblica.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434" y="3280809"/>
            <a:ext cx="5214258" cy="18090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456432"/>
            <a:ext cx="480060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Take-away centrale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96063"/>
            <a:ext cx="4776651" cy="563231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40" b="1" i="0">
                <a:solidFill>
                  <a:srgbClr val="1F2937"/>
                </a:solidFill>
                <a:latin typeface="Aptos"/>
              </a:rPr>
              <a:t>La moderazione comunitaria anticipa una parte dell’enforcement ufficiale, ma solo per gli account che hanno avuto tempo di accumulare segnali pubblici.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1371600" cy="132588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73368" y="1362456"/>
            <a:ext cx="1152144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0,688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79" y="1856232"/>
            <a:ext cx="118872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CV F1 analisi principale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194560"/>
            <a:ext cx="1188720" cy="3383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no 00 · 0p/p0/pp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234440"/>
            <a:ext cx="1371600" cy="132588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1362456"/>
            <a:ext cx="1152144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0,760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1856232"/>
            <a:ext cx="118872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ROC AUC globale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194560"/>
            <a:ext cx="1188720" cy="3383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separazione sopra il caso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1234440"/>
            <a:ext cx="1371600" cy="132588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82328" y="1362456"/>
            <a:ext cx="1152144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0,819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856232"/>
            <a:ext cx="118872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AUC nel gruppo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194560"/>
            <a:ext cx="1188720" cy="33832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post + follower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907792"/>
            <a:ext cx="4617720" cy="94183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C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063240"/>
            <a:ext cx="42519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Blocchi ricevuti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28416"/>
            <a:ext cx="425196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F2937"/>
                </a:solidFill>
                <a:latin typeface="Aptos"/>
              </a:rPr>
              <a:t>Segnale più robusto: alta precisione, recall moderata, informazione concentrata nel giorno prima del takedown.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05072"/>
            <a:ext cx="4617720" cy="94183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F0D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42519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Corner 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25696"/>
            <a:ext cx="4251960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F2937"/>
                </a:solidFill>
                <a:latin typeface="Aptos"/>
              </a:rPr>
              <a:t>60,23% dei positivi: 0 post e 0 follower. Qui il segnale comunitario non ha il tempo di formarsi.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5102352"/>
            <a:ext cx="4617720" cy="896112"/>
          </a:xfrm>
          <a:prstGeom prst="roundRect">
            <a:avLst/>
          </a:prstGeom>
          <a:solidFill>
            <a:srgbClr val="FAE6E6"/>
          </a:solidFill>
          <a:ln w="8890">
            <a:solidFill>
              <a:srgbClr val="EB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5239512"/>
            <a:ext cx="425196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Labels e modlist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504688"/>
            <a:ext cx="425196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0" b="0" i="0">
                <a:solidFill>
                  <a:srgbClr val="1F2937"/>
                </a:solidFill>
                <a:latin typeface="Aptos"/>
              </a:rPr>
              <a:t>Lift talvolta elevato, ma coverage troppo bassa: 2,34% labels post-level; 1,94% modlist.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31168" y="6519672"/>
            <a:ext cx="256032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1F2937"/>
                </a:solidFill>
                <a:latin typeface="Aptos"/>
              </a:rPr>
              <a:t>27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684668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1233D"/>
                </a:solidFill>
                <a:latin typeface="Aptos"/>
              </a:rPr>
              <a:t>La chiave interpretativa: due regimi di takedown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881360" cy="38404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Aptos"/>
              </a:rPr>
              <a:t>Il risultato non è “i blocchi predicono tutto”. Il punto è che i takedown account-level mescolano due popolazioni diverse.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73352"/>
            <a:ext cx="11064240" cy="19385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393192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937"/>
                </a:solidFill>
                <a:latin typeface="Aptos"/>
              </a:rPr>
              <a:t>REGIME A — account esposti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176272"/>
            <a:ext cx="388620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Post e/o follower generano esposizione pubblica. Qui i blocchi possono accumularsi e diventare segnale predittivo.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73752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attività / follower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account osservabile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53912" y="2441448"/>
            <a:ext cx="365760" cy="0"/>
          </a:xfrm>
          <a:prstGeom prst="line">
            <a:avLst/>
          </a:prstGeom>
          <a:ln w="12700">
            <a:solidFill>
              <a:srgbClr val="10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565392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8544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blocchi ricevuti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1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reazione comunitaria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18704" y="2441448"/>
            <a:ext cx="374903" cy="0"/>
          </a:xfrm>
          <a:prstGeom prst="line">
            <a:avLst/>
          </a:prstGeom>
          <a:ln w="12700">
            <a:solidFill>
              <a:srgbClr val="10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39327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segnale concentrato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soprattutto day_0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92640" y="2441448"/>
            <a:ext cx="365760" cy="0"/>
          </a:xfrm>
          <a:prstGeom prst="line">
            <a:avLst/>
          </a:prstGeom>
          <a:ln w="12700">
            <a:solidFill>
              <a:srgbClr val="105B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04120" y="2039112"/>
            <a:ext cx="1353312" cy="80467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77272" y="2130552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77272" y="2295144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!takedown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478024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enforcement ufficiale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99232"/>
            <a:ext cx="608076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Evidenza: AUC pp = 0,819 · F1 positivi pp = 0,754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977639"/>
            <a:ext cx="11064240" cy="1737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187952"/>
            <a:ext cx="393192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1" i="0">
                <a:solidFill>
                  <a:srgbClr val="1F2937"/>
                </a:solidFill>
                <a:latin typeface="Aptos"/>
              </a:rPr>
              <a:t>REGIME B — account 00 / usa-e-getta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462272"/>
            <a:ext cx="3840480" cy="47548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 i="0">
                <a:solidFill>
                  <a:srgbClr val="1F2937"/>
                </a:solidFill>
                <a:latin typeface="Aptos"/>
              </a:rPr>
              <a:t>0 post, 0 follower, vita mediana prossima a zero: l’enforcement arriva prima della reazione comunitaria.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0600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73752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73752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nuovo account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profilo appena creato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53912" y="4791456"/>
            <a:ext cx="365760" cy="0"/>
          </a:xfrm>
          <a:prstGeom prst="line">
            <a:avLst/>
          </a:prstGeom>
          <a:ln w="12700">
            <a:solidFill>
              <a:srgbClr val="D27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38544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38544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nessuna esposizione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1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0 post · 0 follower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918704" y="4791456"/>
            <a:ext cx="374903" cy="0"/>
          </a:xfrm>
          <a:prstGeom prst="line">
            <a:avLst/>
          </a:prstGeom>
          <a:ln w="12700">
            <a:solidFill>
              <a:srgbClr val="D27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339327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0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anti-abuso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7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spam / ban evasion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692640" y="4791456"/>
            <a:ext cx="365760" cy="0"/>
          </a:xfrm>
          <a:prstGeom prst="line">
            <a:avLst/>
          </a:prstGeom>
          <a:ln w="12700">
            <a:solidFill>
              <a:srgbClr val="D276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04120" y="4389120"/>
            <a:ext cx="1353312" cy="804672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177272" y="4480559"/>
            <a:ext cx="3200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77272" y="4645152"/>
            <a:ext cx="1207008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!takedown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4828031"/>
            <a:ext cx="1170432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azione rapida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00600" y="5349240"/>
            <a:ext cx="608076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Conseguenza: mescolare i due regimi attenua il segnale dei blocchi e abbassa la performance.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31168" y="6519672"/>
            <a:ext cx="256032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1F2937"/>
                </a:solidFill>
                <a:latin typeface="Aptos"/>
              </a:rPr>
              <a:t>28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73580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11233D"/>
                </a:solidFill>
                <a:latin typeface="Aptos"/>
              </a:rPr>
              <a:t>Cosa predicono davvero i blocchi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7772400" cy="32004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F2937"/>
                </a:solidFill>
                <a:latin typeface="Aptos"/>
              </a:rPr>
              <a:t>Predizione ravvicinata, ad alta precisione, ma non completa.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1874519" cy="1371600"/>
          </a:xfrm>
          <a:prstGeom prst="roundRect">
            <a:avLst/>
          </a:prstGeom>
          <a:solidFill>
            <a:srgbClr val="E5F7EE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19656"/>
            <a:ext cx="1655063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0,853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313432"/>
            <a:ext cx="1691639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651760"/>
            <a:ext cx="1691639" cy="38404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quando segnala positivo, spesso ha ragione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691640"/>
            <a:ext cx="1874519" cy="1371600"/>
          </a:xfrm>
          <a:prstGeom prst="roundRect">
            <a:avLst/>
          </a:prstGeom>
          <a:solidFill>
            <a:srgbClr val="FFF0E2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52928" y="1819656"/>
            <a:ext cx="1655063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0,576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313432"/>
            <a:ext cx="1691639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51760"/>
            <a:ext cx="1691639" cy="38404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non cattura tutti i positivi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691640"/>
            <a:ext cx="1874519" cy="1371600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D2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56048" y="1819656"/>
            <a:ext cx="1655063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F2937"/>
                </a:solidFill>
                <a:latin typeface="Aptos"/>
              </a:rPr>
              <a:t>≈44%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313432"/>
            <a:ext cx="1691639" cy="32918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Importanza day_0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651760"/>
            <a:ext cx="1691639" cy="38404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unique blockers nell’ultimo giorno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1572768"/>
            <a:ext cx="3977639" cy="187451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1801368"/>
            <a:ext cx="35204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Dove funziona meglio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103120"/>
            <a:ext cx="3456432" cy="7132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F2937"/>
                </a:solidFill>
                <a:latin typeface="Aptos"/>
              </a:rPr>
              <a:t>Gruppo pp: account con post e follower. È la popolazione più osservabile e quindi quella in cui il segnale dei blocchi è più leggibile.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935224"/>
            <a:ext cx="3456432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 i="0">
                <a:solidFill>
                  <a:srgbClr val="1F2937"/>
                </a:solidFill>
                <a:latin typeface="Aptos"/>
              </a:rPr>
              <a:t>AUC 0,819 · F1 positivi 0,754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698480" cy="13898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904487"/>
            <a:ext cx="292608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F2937"/>
                </a:solidFill>
                <a:latin typeface="Aptos"/>
              </a:rPr>
              <a:t>Temporalità del segnale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" y="4535424"/>
            <a:ext cx="9784080" cy="0"/>
          </a:xfrm>
          <a:prstGeom prst="line">
            <a:avLst/>
          </a:prstGeom>
          <a:ln w="15240">
            <a:solidFill>
              <a:srgbClr val="DA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91540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−10</a:t>
            </a:r>
          </a:p>
        </p:txBody>
      </p:sp>
      <p:sp>
        <p:nvSpPr>
          <p:cNvPr id="27" name="Oval 26"/>
          <p:cNvSpPr/>
          <p:nvPr/>
        </p:nvSpPr>
        <p:spPr>
          <a:xfrm>
            <a:off x="1961388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65376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−9</a:t>
            </a:r>
          </a:p>
        </p:txBody>
      </p:sp>
      <p:sp>
        <p:nvSpPr>
          <p:cNvPr id="29" name="Oval 28"/>
          <p:cNvSpPr/>
          <p:nvPr/>
        </p:nvSpPr>
        <p:spPr>
          <a:xfrm>
            <a:off x="3031236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35224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−8</a:t>
            </a:r>
          </a:p>
        </p:txBody>
      </p:sp>
      <p:sp>
        <p:nvSpPr>
          <p:cNvPr id="31" name="Oval 30"/>
          <p:cNvSpPr/>
          <p:nvPr/>
        </p:nvSpPr>
        <p:spPr>
          <a:xfrm>
            <a:off x="4101083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05072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−7</a:t>
            </a:r>
          </a:p>
        </p:txBody>
      </p:sp>
      <p:sp>
        <p:nvSpPr>
          <p:cNvPr id="33" name="Oval 32"/>
          <p:cNvSpPr/>
          <p:nvPr/>
        </p:nvSpPr>
        <p:spPr>
          <a:xfrm>
            <a:off x="5170932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74920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−6</a:t>
            </a:r>
          </a:p>
        </p:txBody>
      </p:sp>
      <p:sp>
        <p:nvSpPr>
          <p:cNvPr id="35" name="Oval 34"/>
          <p:cNvSpPr/>
          <p:nvPr/>
        </p:nvSpPr>
        <p:spPr>
          <a:xfrm>
            <a:off x="6240780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4768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−5</a:t>
            </a:r>
          </a:p>
        </p:txBody>
      </p:sp>
      <p:sp>
        <p:nvSpPr>
          <p:cNvPr id="37" name="Oval 36"/>
          <p:cNvSpPr/>
          <p:nvPr/>
        </p:nvSpPr>
        <p:spPr>
          <a:xfrm>
            <a:off x="7310628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14616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−4</a:t>
            </a:r>
          </a:p>
        </p:txBody>
      </p:sp>
      <p:sp>
        <p:nvSpPr>
          <p:cNvPr id="39" name="Oval 38"/>
          <p:cNvSpPr/>
          <p:nvPr/>
        </p:nvSpPr>
        <p:spPr>
          <a:xfrm>
            <a:off x="8380476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84464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−3</a:t>
            </a:r>
          </a:p>
        </p:txBody>
      </p:sp>
      <p:sp>
        <p:nvSpPr>
          <p:cNvPr id="41" name="Oval 40"/>
          <p:cNvSpPr/>
          <p:nvPr/>
        </p:nvSpPr>
        <p:spPr>
          <a:xfrm>
            <a:off x="9450324" y="4466844"/>
            <a:ext cx="137160" cy="137160"/>
          </a:xfrm>
          <a:prstGeom prst="ellipse">
            <a:avLst/>
          </a:prstGeom>
          <a:solidFill>
            <a:srgbClr val="BEC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354312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−2</a:t>
            </a:r>
          </a:p>
        </p:txBody>
      </p:sp>
      <p:sp>
        <p:nvSpPr>
          <p:cNvPr id="43" name="Oval 42"/>
          <p:cNvSpPr/>
          <p:nvPr/>
        </p:nvSpPr>
        <p:spPr>
          <a:xfrm>
            <a:off x="10469880" y="4416552"/>
            <a:ext cx="237744" cy="237744"/>
          </a:xfrm>
          <a:prstGeom prst="ellipse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424160" y="4727448"/>
            <a:ext cx="347472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−1/T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983480"/>
            <a:ext cx="987552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40" b="0" i="0">
                <a:solidFill>
                  <a:srgbClr val="1F2937"/>
                </a:solidFill>
                <a:latin typeface="Aptos"/>
              </a:rPr>
              <a:t>Il segnale non è una previsione lunga: si concentra negli ultimi 1–3 giorni prima dell’enforcement.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5431536"/>
            <a:ext cx="10698480" cy="530352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C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577840"/>
            <a:ext cx="10104120" cy="237744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19" b="1" i="0">
                <a:solidFill>
                  <a:srgbClr val="1F2937"/>
                </a:solidFill>
                <a:latin typeface="Aptos"/>
              </a:rPr>
              <a:t>Lettura corretta: i blocchi non dimostrano causalità. Misurano un segnale pre-evento che separa positivi e negativi meglio del caso, soprattutto negli account esposti.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31168" y="6519672"/>
            <a:ext cx="256032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00" b="0" i="0">
                <a:solidFill>
                  <a:srgbClr val="1F2937"/>
                </a:solidFill>
                <a:latin typeface="Aptos"/>
              </a:rPr>
              <a:t>29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29740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169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201168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200" b="1" i="0">
                <a:solidFill>
                  <a:srgbClr val="2563EB"/>
                </a:solidFill>
                <a:latin typeface="Aptos"/>
              </a:rPr>
              <a:t>DISCUSSIONE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11064240" cy="375487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lang="it-IT" sz="2200" b="1">
                <a:solidFill>
                  <a:srgbClr val="11233D"/>
                </a:solidFill>
                <a:latin typeface="Aptos"/>
              </a:rPr>
              <a:t>Limiti</a:t>
            </a:r>
            <a:r>
              <a:rPr sz="2200" b="1" i="0">
                <a:solidFill>
                  <a:srgbClr val="11233D"/>
                </a:solidFill>
                <a:latin typeface="Aptos"/>
              </a:rPr>
              <a:t> e </a:t>
            </a:r>
            <a:r>
              <a:rPr sz="2200" b="1" i="0" err="1">
                <a:solidFill>
                  <a:srgbClr val="11233D"/>
                </a:solidFill>
                <a:latin typeface="Aptos"/>
              </a:rPr>
              <a:t>prossimi</a:t>
            </a:r>
            <a:r>
              <a:rPr sz="2200" b="1" i="0" dirty="0">
                <a:solidFill>
                  <a:srgbClr val="11233D"/>
                </a:solidFill>
                <a:latin typeface="Aptos"/>
              </a:rPr>
              <a:t> </a:t>
            </a:r>
            <a:r>
              <a:rPr sz="2200" b="1" i="0" err="1">
                <a:solidFill>
                  <a:srgbClr val="11233D"/>
                </a:solidFill>
                <a:latin typeface="Aptos"/>
              </a:rPr>
              <a:t>passi</a:t>
            </a:r>
            <a:endParaRPr lang="it-IT" sz="2200" b="1" i="0" err="1">
              <a:solidFill>
                <a:srgbClr val="0C1F33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069848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937"/>
                </a:solidFill>
                <a:latin typeface="Aptos"/>
              </a:rPr>
              <a:t>Non tutti i segnali osservabili sono utili per predire: alcuni sono troppo rari nella finestra pre-evento.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230368" cy="27614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10512"/>
            <a:ext cx="461772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Labels e modlist: perché non entrano al centro del modello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3774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Segnale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212848"/>
            <a:ext cx="86868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212848"/>
            <a:ext cx="1005840" cy="164592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Nota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Labels ufficiali post-level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496312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2,34%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96312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coverage bassa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2734056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2880360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Modlist / blocklist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880360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1,94%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2880360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troppo rarefatte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3118104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3264408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Skywatch Blue acc.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4992" y="3264408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2,94%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264408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lift 4,24×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3502152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68680" y="3648456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Profile Labeller acc.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3648456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1,91%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3648456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lift 12,36×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886200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4032504"/>
            <a:ext cx="23317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Blacksky acc.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4032504"/>
            <a:ext cx="8686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 i="0">
                <a:solidFill>
                  <a:srgbClr val="1F2937"/>
                </a:solidFill>
                <a:latin typeface="Aptos"/>
              </a:rPr>
              <a:t>0,09%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032504"/>
            <a:ext cx="132588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 i="0">
                <a:solidFill>
                  <a:srgbClr val="1F2937"/>
                </a:solidFill>
                <a:latin typeface="Aptos"/>
              </a:rPr>
              <a:t>lift alto, quasi nullo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" y="4270248"/>
            <a:ext cx="4572000" cy="0"/>
          </a:xfrm>
          <a:prstGeom prst="line">
            <a:avLst/>
          </a:prstGeom>
          <a:ln w="6350">
            <a:solidFill>
              <a:srgbClr val="EBF1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3708" y="4566048"/>
            <a:ext cx="46177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1F2937"/>
                </a:solidFill>
                <a:latin typeface="Aptos"/>
              </a:rPr>
              <a:t>Risultato: lift alto non basta se i casi osservabili sono pochi.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600200"/>
            <a:ext cx="5230368" cy="129844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1810512"/>
            <a:ext cx="457200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Limiti della lettura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30552"/>
            <a:ext cx="4617720" cy="594360"/>
          </a:xfrm>
          <a:prstGeom prst="rect">
            <a:avLst/>
          </a:prstGeom>
          <a:noFill/>
          <a:ln w="9525"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0"/>
              </a:spcAft>
              <a:defRPr sz="890">
                <a:solidFill>
                  <a:srgbClr val="19232D"/>
                </a:solidFill>
                <a:latin typeface="Arial"/>
              </a:defRPr>
            </a:pPr>
            <a:r>
              <a:rPr sz="880">
                <a:solidFill>
                  <a:srgbClr val="1F2937"/>
                </a:solidFill>
                <a:latin typeface="Aptos"/>
              </a:rPr>
              <a:t>Marzo 2026: finestra temporale limitata.</a:t>
            </a:r>
          </a:p>
          <a:p>
            <a:pPr>
              <a:spcAft>
                <a:spcPts val="0"/>
              </a:spcAft>
              <a:defRPr sz="890">
                <a:solidFill>
                  <a:srgbClr val="19232D"/>
                </a:solidFill>
                <a:latin typeface="Arial"/>
              </a:defRPr>
            </a:pPr>
            <a:r>
              <a:rPr sz="880">
                <a:solidFill>
                  <a:srgbClr val="1F2937"/>
                </a:solidFill>
                <a:latin typeface="Aptos"/>
              </a:rPr>
              <a:t>Analisi predittiva e correlazionale, non causale.</a:t>
            </a:r>
          </a:p>
          <a:p>
            <a:pPr>
              <a:spcAft>
                <a:spcPts val="0"/>
              </a:spcAft>
              <a:defRPr sz="890">
                <a:solidFill>
                  <a:srgbClr val="19232D"/>
                </a:solidFill>
                <a:latin typeface="Arial"/>
              </a:defRPr>
            </a:pPr>
            <a:r>
              <a:rPr sz="880">
                <a:solidFill>
                  <a:srgbClr val="1F2937"/>
                </a:solidFill>
                <a:latin typeface="Aptos"/>
              </a:rPr>
              <a:t>Corner 00 da trattare come popolazione separata.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11966" y="3070497"/>
            <a:ext cx="5259396" cy="2205591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273552"/>
            <a:ext cx="457200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2937"/>
                </a:solidFill>
                <a:latin typeface="Aptos"/>
              </a:rPr>
              <a:t>Sviluppi futuri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086" y="3651649"/>
            <a:ext cx="4617720" cy="1329595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0"/>
              </a:spcAft>
            </a:pPr>
            <a:r>
              <a:rPr lang="it-IT" sz="1400">
                <a:solidFill>
                  <a:srgbClr val="1F2937"/>
                </a:solidFill>
                <a:latin typeface="Aptos"/>
              </a:rPr>
              <a:t>-Estendere l’analisi a più mesi, per verificare la stabilità dei </a:t>
            </a:r>
            <a:r>
              <a:rPr lang="it-IT" sz="1400" dirty="0">
                <a:solidFill>
                  <a:srgbClr val="1F2937"/>
                </a:solidFill>
                <a:latin typeface="Aptos"/>
              </a:rPr>
              <a:t>risultati nel tempo e controllare stagionalità o campagne di spam.</a:t>
            </a:r>
            <a:endParaRPr lang="it-IT"/>
          </a:p>
          <a:p>
            <a:pPr>
              <a:spcAft>
                <a:spcPts val="0"/>
              </a:spcAft>
            </a:pPr>
            <a:r>
              <a:rPr lang="it-IT" sz="14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-Modellare direttamente la probabilità di </a:t>
            </a:r>
            <a:r>
              <a:rPr lang="it-IT" sz="1400" dirty="0" err="1">
                <a:solidFill>
                  <a:srgbClr val="1F2937"/>
                </a:solidFill>
                <a:latin typeface="Aptos"/>
                <a:ea typeface="+mn-lt"/>
                <a:cs typeface="+mn-lt"/>
              </a:rPr>
              <a:t>takedown</a:t>
            </a:r>
            <a:r>
              <a:rPr lang="it-IT" sz="1400" dirty="0">
                <a:solidFill>
                  <a:srgbClr val="1F2937"/>
                </a:solidFill>
                <a:latin typeface="Aptos"/>
                <a:ea typeface="+mn-lt"/>
                <a:cs typeface="+mn-lt"/>
              </a:rPr>
              <a:t> nelle ore successive, trasformando l’analisi in una previsione temporale ravvicinata.</a:t>
            </a:r>
            <a:endParaRPr lang="it-IT" dirty="0"/>
          </a:p>
        </p:txBody>
      </p:sp>
      <p:sp>
        <p:nvSpPr>
          <p:cNvPr id="38" name="Rounded Rectangle 37"/>
          <p:cNvSpPr/>
          <p:nvPr/>
        </p:nvSpPr>
        <p:spPr>
          <a:xfrm>
            <a:off x="594360" y="5340386"/>
            <a:ext cx="10762488" cy="841248"/>
          </a:xfrm>
          <a:prstGeom prst="roundRect">
            <a:avLst/>
          </a:prstGeom>
          <a:solidFill>
            <a:srgbClr val="E0F4FD"/>
          </a:solidFill>
          <a:ln w="8890">
            <a:solidFill>
              <a:srgbClr val="C6E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4337" y="5559842"/>
            <a:ext cx="10195560" cy="406265"/>
          </a:xfrm>
          <a:prstGeom prst="rect">
            <a:avLst/>
          </a:prstGeom>
          <a:noFill/>
          <a:ln w="9525"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it-IT" sz="1200" b="1" dirty="0">
                <a:solidFill>
                  <a:srgbClr val="1F2937"/>
                </a:solidFill>
                <a:latin typeface="Aptos"/>
              </a:rPr>
              <a:t>il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contributo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non è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mostrare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che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tutti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takedown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siano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prevedibili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, ma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distinguere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quali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takedown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lasciano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segnali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comunitari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e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quali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avvengono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prima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che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quei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segnali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possano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 </a:t>
            </a:r>
            <a:r>
              <a:rPr sz="1200" b="1" i="0" dirty="0" err="1">
                <a:solidFill>
                  <a:srgbClr val="1F2937"/>
                </a:solidFill>
                <a:latin typeface="Aptos"/>
              </a:rPr>
              <a:t>formarsi</a:t>
            </a:r>
            <a:r>
              <a:rPr sz="1200" b="1" i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436" y="6729984"/>
            <a:ext cx="12073128" cy="731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44607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398D1"/>
          </a:solidFill>
          <a:ln w="12700">
            <a:solidFill>
              <a:srgbClr val="1398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645920" cy="18288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FONTI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94360" y="530352"/>
            <a:ext cx="7132320" cy="3657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Fonti e materiali usati nel lavoro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969264"/>
            <a:ext cx="10789920" cy="21945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60" b="1" dirty="0">
                <a:solidFill>
                  <a:srgbClr val="11233D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Fonti esterne verificabili e artefatti analitici effettivamente usati; i link sono incorporati nei titoli.</a:t>
            </a:r>
            <a:endParaRPr lang="en-US" sz="1260" dirty="0"/>
          </a:p>
        </p:txBody>
      </p:sp>
      <p:sp>
        <p:nvSpPr>
          <p:cNvPr id="6" name="Shape 4"/>
          <p:cNvSpPr/>
          <p:nvPr/>
        </p:nvSpPr>
        <p:spPr>
          <a:xfrm>
            <a:off x="594360" y="1225296"/>
            <a:ext cx="10881360" cy="0"/>
          </a:xfrm>
          <a:prstGeom prst="line">
            <a:avLst/>
          </a:prstGeom>
          <a:noFill/>
          <a:ln w="1778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507492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1 · Fonti ufficiali Bluesky / ATProto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700784"/>
            <a:ext cx="5074920" cy="0"/>
          </a:xfrm>
          <a:prstGeom prst="line">
            <a:avLst/>
          </a:prstGeom>
          <a:noFill/>
          <a:ln w="1524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1865376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1124712" y="1810512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 Protocol docs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124712" y="2057400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Struttura ATProto, oggetti pubblici, account/post e API.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85800" y="2441448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2478024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1124712" y="2423160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Bluesky Moderation Architecture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124712" y="2670048"/>
            <a:ext cx="4544568" cy="374904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Moderazione componibile: servizio ufficiale, labeler terzi e controlli utente.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685800" y="3127248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85800" y="3163824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19" name="Text 17">
            <a:hlinkClick r:id="rId5"/>
          </p:cNvPr>
          <p:cNvSpPr/>
          <p:nvPr/>
        </p:nvSpPr>
        <p:spPr>
          <a:xfrm>
            <a:off x="1124712" y="3108960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Labels and moderation docs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24712" y="3355848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Definizione tecnica di labels, labeler e applicazione a record/account.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85800" y="3739896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5800" y="3776472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" dirty="0"/>
          </a:p>
        </p:txBody>
      </p:sp>
      <p:sp>
        <p:nvSpPr>
          <p:cNvPr id="23" name="Text 21">
            <a:hlinkClick r:id="rId6"/>
          </p:cNvPr>
          <p:cNvSpPr/>
          <p:nvPr/>
        </p:nvSpPr>
        <p:spPr>
          <a:xfrm>
            <a:off x="1124712" y="3721608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Block implementation + User Lists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124712" y="3968496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Blocchi individuali, liste utente e modlist come segnali comunitari.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85800" y="4352544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85800" y="4389120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80" dirty="0"/>
          </a:p>
        </p:txBody>
      </p:sp>
      <p:sp>
        <p:nvSpPr>
          <p:cNvPr id="27" name="Text 25">
            <a:hlinkClick r:id="rId7"/>
          </p:cNvPr>
          <p:cNvSpPr/>
          <p:nvPr/>
        </p:nvSpPr>
        <p:spPr>
          <a:xfrm>
            <a:off x="1124712" y="4334256"/>
            <a:ext cx="454456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Transparency Reports 2023 / 2025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124712" y="4581144"/>
            <a:ext cx="4544568" cy="29260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Spam, impersonation, ban evasion ed enforcement account-level.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6126480" y="1389888"/>
            <a:ext cx="4937760" cy="25603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2 · Letteratura scientifica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126480" y="1700784"/>
            <a:ext cx="4937760" cy="0"/>
          </a:xfrm>
          <a:prstGeom prst="line">
            <a:avLst/>
          </a:prstGeom>
          <a:noFill/>
          <a:ln w="1524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126480" y="1828800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126480" y="1865376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80" dirty="0"/>
          </a:p>
        </p:txBody>
      </p:sp>
      <p:sp>
        <p:nvSpPr>
          <p:cNvPr id="33" name="Text 31">
            <a:hlinkClick r:id="rId8"/>
          </p:cNvPr>
          <p:cNvSpPr/>
          <p:nvPr/>
        </p:nvSpPr>
        <p:spPr>
          <a:xfrm>
            <a:off x="6565392" y="1810512"/>
            <a:ext cx="449884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Balduf et al. 2024 — Blue Skies of Bluesky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6565392" y="2057400"/>
            <a:ext cx="4498848" cy="50292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Analisi larga scala: architettura, dataset e stream ATProto.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126480" y="2743200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126480" y="2779776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80" dirty="0"/>
          </a:p>
        </p:txBody>
      </p:sp>
      <p:sp>
        <p:nvSpPr>
          <p:cNvPr id="37" name="Text 35">
            <a:hlinkClick r:id="rId9"/>
          </p:cNvPr>
          <p:cNvSpPr/>
          <p:nvPr/>
        </p:nvSpPr>
        <p:spPr>
          <a:xfrm>
            <a:off x="6565392" y="2724912"/>
            <a:ext cx="449884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Bono et al. 2025/2026 — Self-moderation on Bluesky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565392" y="2971800"/>
            <a:ext cx="4498848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Blocking behavior: feature di attività/grafo e predizione del blocco.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6126480" y="3584448"/>
            <a:ext cx="310896" cy="256032"/>
          </a:xfrm>
          <a:prstGeom prst="roundRect">
            <a:avLst>
              <a:gd name="adj" fmla="val 17857"/>
            </a:avLst>
          </a:prstGeom>
          <a:solidFill>
            <a:srgbClr val="1398D1"/>
          </a:solidFill>
          <a:ln w="12700">
            <a:solidFill>
              <a:srgbClr val="1398D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126480" y="3621024"/>
            <a:ext cx="310896" cy="13716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88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80" dirty="0"/>
          </a:p>
        </p:txBody>
      </p:sp>
      <p:sp>
        <p:nvSpPr>
          <p:cNvPr id="41" name="Text 39">
            <a:hlinkClick r:id="rId10"/>
          </p:cNvPr>
          <p:cNvSpPr/>
          <p:nvPr/>
        </p:nvSpPr>
        <p:spPr>
          <a:xfrm>
            <a:off x="6565392" y="3566160"/>
            <a:ext cx="4498848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320" b="1" u="sng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Sokoto et al. 2026 — Open or Blocked Skies?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6565392" y="3813048"/>
            <a:ext cx="4498848" cy="438912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6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Blocklist/modlist: scala, categorie, account colpiti e impatto sul grafo.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685800" y="5102352"/>
            <a:ext cx="5120640" cy="228600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3 · Materiali analitici del progetto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85800" y="5367528"/>
            <a:ext cx="103327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8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Non sono fonti bibliografiche: sono gli artefatti che producono metriche, grafici e risultati riportati nel deck.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685800" y="5614416"/>
            <a:ext cx="10424160" cy="0"/>
          </a:xfrm>
          <a:prstGeom prst="line">
            <a:avLst/>
          </a:prstGeom>
          <a:noFill/>
          <a:ln w="13970">
            <a:solidFill>
              <a:srgbClr val="CFE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685800" y="5715000"/>
            <a:ext cx="297180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blocks_signal_v3.ipynb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85800" y="5943600"/>
            <a:ext cx="297180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Blocchi: distribuzioni, timing, corner, grafici.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069080" y="5715000"/>
            <a:ext cx="306324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rf_and_shap_on_blocks.ipynb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4069080" y="5943600"/>
            <a:ext cx="306324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Random Forest: setup, metriche, feature importance.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498080" y="5715000"/>
            <a:ext cx="3246120" cy="201168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ctr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true_takedown_utility_window.py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7498080" y="5943600"/>
            <a:ext cx="3246120" cy="310896"/>
          </a:xfrm>
          <a:prstGeom prst="rect">
            <a:avLst/>
          </a:prstGeom>
          <a:noFill/>
          <a:ln w="9525"/>
        </p:spPr>
        <p:txBody>
          <a:bodyPr wrap="square" lIns="36576" tIns="27432" rIns="36576" bIns="27432" rtlCol="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rial" pitchFamily="34" charset="-122"/>
                <a:cs typeface="Arial" pitchFamily="34" charset="-120"/>
              </a:rPr>
              <a:t>Utility window: scelta dei 10 giorni.</a:t>
            </a:r>
            <a:endParaRPr lang="en-US" sz="1050" dirty="0"/>
          </a:p>
        </p:txBody>
      </p:sp>
      <p:sp>
        <p:nvSpPr>
          <p:cNvPr id="55" name="Rectangle 54"/>
          <p:cNvSpPr/>
          <p:nvPr/>
        </p:nvSpPr>
        <p:spPr>
          <a:xfrm>
            <a:off x="0" y="0"/>
            <a:ext cx="12192000" cy="594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59436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6120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31</Slides>
  <Notes>21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2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Segnali comunitari e moderazione ufficiale su Bluesky / ATProto</dc:title>
  <dc:subject>Segnali comunitari e moderazione ufficiale su Bluesky / ATProto</dc:subject>
  <dc:creator>OpenAI</dc:creator>
  <cp:revision>207</cp:revision>
  <dcterms:created xsi:type="dcterms:W3CDTF">2026-07-02T13:34:59Z</dcterms:created>
  <dcterms:modified xsi:type="dcterms:W3CDTF">2026-07-12T14:46:35Z</dcterms:modified>
</cp:coreProperties>
</file>